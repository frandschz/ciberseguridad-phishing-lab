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0f7cdda254887" /><Relationship Type="http://schemas.openxmlformats.org/officeDocument/2006/relationships/extended-properties" Target="/docProps/app.xml" Id="Rff3b23da8f8045f4" /><Relationship Type="http://schemas.openxmlformats.org/officeDocument/2006/relationships/officeDocument" Target="/ppt/presentation.xml" Id="Rebf2f7007865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1cbf28fadb4497"/>
  </p:sldMasterIdLst>
  <p:notesMasterIdLst>
    <p:notesMasterId xmlns:r="http://schemas.openxmlformats.org/officeDocument/2006/relationships" r:id="R420d2b0611e3435f"/>
  </p:notesMasterIdLst>
  <p:sldIdLst>
    <p:sldId xmlns:r="http://schemas.openxmlformats.org/officeDocument/2006/relationships" id="256" r:id="R3517378b9a414267"/>
    <p:sldId xmlns:r="http://schemas.openxmlformats.org/officeDocument/2006/relationships" id="257" r:id="R52427cc93762407a"/>
    <p:sldId xmlns:r="http://schemas.openxmlformats.org/officeDocument/2006/relationships" id="258" r:id="Ref9a792b0f0849fc"/>
    <p:sldId xmlns:r="http://schemas.openxmlformats.org/officeDocument/2006/relationships" id="259" r:id="Rd1d3ef5c8eb64114"/>
    <p:sldId xmlns:r="http://schemas.openxmlformats.org/officeDocument/2006/relationships" id="260" r:id="Rb7237bcfcd174500"/>
    <p:sldId xmlns:r="http://schemas.openxmlformats.org/officeDocument/2006/relationships" id="261" r:id="R5fcb7563e07b45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9807ba190d497f" /><Relationship Type="http://schemas.openxmlformats.org/officeDocument/2006/relationships/slideMaster" Target="/ppt/slideMasters/slideMaster1.xml" Id="R2a1cbf28fadb4497" /><Relationship Type="http://schemas.openxmlformats.org/officeDocument/2006/relationships/notesMaster" Target="/ppt/notesMasters/notesMaster1.xml" Id="R420d2b0611e3435f" /><Relationship Type="http://schemas.openxmlformats.org/officeDocument/2006/relationships/presProps" Target="/ppt/presProps.xml" Id="R56b9f53841ab4fbb" /><Relationship Type="http://schemas.openxmlformats.org/officeDocument/2006/relationships/tableStyles" Target="/ppt/tableStyles.xml" Id="R807ea907089c48fe" /><Relationship Type="http://schemas.openxmlformats.org/officeDocument/2006/relationships/slide" Target="/ppt/slides/slide1.xml" Id="R3517378b9a414267" /><Relationship Type="http://schemas.openxmlformats.org/officeDocument/2006/relationships/slide" Target="/ppt/slides/slide2.xml" Id="R52427cc93762407a" /><Relationship Type="http://schemas.openxmlformats.org/officeDocument/2006/relationships/slide" Target="/ppt/slides/slide3.xml" Id="Ref9a792b0f0849fc" /><Relationship Type="http://schemas.openxmlformats.org/officeDocument/2006/relationships/slide" Target="/ppt/slides/slide4.xml" Id="Rd1d3ef5c8eb64114" /><Relationship Type="http://schemas.openxmlformats.org/officeDocument/2006/relationships/slide" Target="/ppt/slides/slide5.xml" Id="Rb7237bcfcd174500" /><Relationship Type="http://schemas.openxmlformats.org/officeDocument/2006/relationships/slide" Target="/ppt/slides/slide6.xml" Id="R5fcb7563e07b45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277813ad67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aef0a93b048f8" /><Relationship Type="http://schemas.openxmlformats.org/officeDocument/2006/relationships/notesMaster" Target="/ppt/notesMasters/notesMaster1.xml" Id="R460a16a46ef4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43930221d34c55" /><Relationship Type="http://schemas.openxmlformats.org/officeDocument/2006/relationships/notesMaster" Target="/ppt/notesMasters/notesMaster1.xml" Id="R92edba30134d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b76eb52634739" /><Relationship Type="http://schemas.openxmlformats.org/officeDocument/2006/relationships/notesMaster" Target="/ppt/notesMasters/notesMaster1.xml" Id="Rf2f729e1d061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e2f8d89ceb491d" /><Relationship Type="http://schemas.openxmlformats.org/officeDocument/2006/relationships/notesMaster" Target="/ppt/notesMasters/notesMaster1.xml" Id="Rd638270934e0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5cd7b482d4dc0" /><Relationship Type="http://schemas.openxmlformats.org/officeDocument/2006/relationships/notesMaster" Target="/ppt/notesMasters/notesMaster1.xml" Id="R124badf14c64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25a399a314bf1" /><Relationship Type="http://schemas.openxmlformats.org/officeDocument/2006/relationships/notesMaster" Target="/ppt/notesMasters/notesMaster1.xml" Id="R7a96f0acc304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0:00–1:30 (90 s). Propuesta: Benetucci Ignacio. Introducción (15 s): siete recursos, análisis estático, nunca ejecutamos muestras. F001 es una DLL aunque el nombre histórico termine en .exe; F002 es un ejecutable. Verificamos SHA-256, SHA-1, MD5 y tamaño contra VT: 47 detecciones cada uno. RAT significa troyano de acceso remoto; un atacante podría acceder a información o alterar el equipo, pero no observamos esas acciones. ValleyRAT viene de motores y reportes de terceros. Conclusión: maliciosos con confianza alta en reputación, sin afirmar infección. Fuentes: capturas/F001-virustotal-detecciones.jpg; capturas/F002-virustotal-detecciones.jpg; archivos-reputacion.json. https://www.virustotal.com/gui/file/6f9f663f832a06474913ec6bb0f94e3cca6e0658396a68053ff36abedbb050ba y https://www.virustotal.com/gui/file/06af7db1507c685154f7a291c862b0bfe5649c989de4e7acbeff23fd3252e4ec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1:30–2:50 (80 s). Propuesta: Maurel Garcete Philippe. R004 anuncia un producto para aliviar dolor de rodilla. Tiene cero adjuntos, dos enlaces acortados y un píxel remoto de seguimiento. El aporte del informe independiente permitió revisar pnreap.com: verificamos 12 motores maliciosos y uno sospechoso sobre la URL exacta. Por eso clasificamos el mensaje como malicioso por el contenido remoto que incorpora, con confianza media. Las cabeceras declaran SPF y DMARC pass; autenticar el dominio no prueba que el contenido sea seguro. No afirmamos robo de credenciales ni infección. No cargamos el píxel. Fuente: capturas/R004-pnreap-verificado.jpg; consolidacion/pnreap-verificacion.json; correos-html-resumen.json; Correo-1.txt y PDF aportado, p.16. https://www.virustotal.com/gui/url/b5964327810a7c813ae6a17ec150228e0f3c1bc77fa5dba775f7eaae5eda674d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2:50–3:55 (65 s). Propuesta: Maurel Garcete Philippe. El mensaje ofrece bolas de Plinko y premios. El contenido tiene tres enlaces de acción y un píxel en woondsplay.com. El dominio registra siete motores maliciosos y dos sospechosos. Las URLs exactas consultadas no aportan un informe concluyente: no trasladamos automáticamente la clasificación del dominio al mensaje. Las cabeceras declaran SPF none, DMARC none y una firma DKIM cuyo dominio no está alineado con From. None no significa fail. Amenaza posible: spam o engaño mediante enlaces; no hay un malware adjunto identificado. Conclusión: sospechoso, confianza media. Fuentes: capturas/R005-dominio-enlaces-virustotal.jpg, correos-estaticos.json, correos-html-resumen.json y Correo-2.txt. https://www.virustotal.com/gui/domain/woondsplay.com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3:55–5:00 (65 s). Propuesta: Rodas Sebastián. URL g-comeceseuatendimenton.shop. El reporte exacto de urlscan del 16 de octubre muestra una página de orientación financiera sobre CPF, con cuenta regresiva y llamada a la acción. Hay un enlace saliente a feiraoaberto.netlify.app/login/; no lo seguimos ni lo describimos como redirección automática. VT tiene dos alertas. urlscan ofrece señales contradictorias: el motor ML alerta pero el veredicto global no confirma malicia. Riesgo posible de ingeniería social; no se observó formulario de credenciales. Conclusión: sospechoso. Fuente: capturas/U001-urlscan-imagen-archivada.jpg y U001-virustotal-url.jpg; urls/20261023T180740Z/U001.json. https://urlscan.io/result/01a1462b-bbda-773d-a9b2-fa0511ed4b52/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5:00–6:50 (110 s). Propuesta: Sánchez Franco. Este caso conecta dos herramientas. En urlscan, mostrar el registro de descarga: ELF de 32 bits para MIPS, 137480 bytes. No es un script aunque la ruta termine en .sh. Copiar solo el hash visible y mostrar el informe ya existente de VT: mismo SHA-256 y tamaño, 50 motores maliciosos. Reservar unos 35 segundos de este bloque para recorrer ambos informes; si falla Internet, usar estas capturas. Nunca abrir el destino ni pulsar Reanalyze ni descargar el archivo. SHA-256 f6c97b1e2ed02578ca1066c8235ba4f991e645f89012406c639dbccc6582eec8. Motores etiquetan Mirai/Mozi, asociados a botnets y DDoS; es atribución de terceros, no comportamiento ejecutado por nosotros. Conclusión: malicioso con confianza alta en asociación histórica y reputación. Fuentes: capturas/U002-urlscan-descarga-detalle.jpg; U002-virustotal-hash-descarga.jpg. https://urlscan.io/result/01a1464c-f4e2-70ba-8c0c-131c9851a684/ y https://www.virustotal.com/gui/file/f6c97b1e2ed02578ca1066c8235ba4f991e645f89012406c639dbccc6582eec8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6:50–8:00 (70 s). Propuesta: Rodas Sebastián. La URL pneustorebr.cfd tiene una alerta y el dominio raíz seis maliciosas y dos sospechosas. La captura histórica muestra un dominio aparcado en Dynadot y HTTP 404, no una tienda ni un formulario. Otros informes de distinta fecha registran HTTP 200 y otra IP; no inventamos una causa. Riesgo posible de engaño por nombre, pero evidencia insuficiente para afirmar estafa efectiva. Conclusión: sospechoso. Cierre de 20 segundos: cuatro maliciosos, tres sospechosos, ninguno acreditado limpio; evidencia preservada, fuentes fechadas y ninguna muestra ejecutada. Las medidas son conservar aislado, reportar y bloquear indicadores confirmados según contexto. Fuente: U003-urlscan-imagen-archivada.jpg y U003-virustotal-dominio.jpg, U003.json. https://urlscan.io/result/01a1460d-11c6-71b9-9818-3caec90d10c7/ y https://www.virustotal.com/gui/domain/pneustorebr.cfd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80ed55fbe4c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ebb1941bc43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e084cd93248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3c14786864a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f159a20f14f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10c09597e4c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9135D1-1E15-45E6-9E34-C8C4944220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C23AA9-6DD4-42AF-A553-690EB4AAF5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9DABEB-5FE8-4B9C-95B2-CC3DAFAA4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A1DE6A-DD9D-4442-A480-DC1CDCFE0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AD188D-2DDB-4B65-ADE8-C4A37FF13C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188EEB-EC48-4390-8E06-3832F42D0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AD6407-644E-4238-99F1-B0A092F6C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49FB94-5B6A-4DD1-BB59-6928BF4BF7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17B066-3C0E-47E7-900C-39863B335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AE8B9D-1F89-433B-A4B5-5AFDAB189C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3d7a4d92b2429e" /><Relationship Type="http://schemas.openxmlformats.org/officeDocument/2006/relationships/slideLayout" Target="/ppt/slideLayouts/slideLayout1.xml" Id="R7d597c7fc9624790" /><Relationship Type="http://schemas.openxmlformats.org/officeDocument/2006/relationships/slideLayout" Target="/ppt/slideLayouts/slideLayout2.xml" Id="Red2e5bd2a4bf4e99" /><Relationship Type="http://schemas.openxmlformats.org/officeDocument/2006/relationships/slideLayout" Target="/ppt/slideLayouts/slideLayout3.xml" Id="R12104a75964f4e9d" /><Relationship Type="http://schemas.openxmlformats.org/officeDocument/2006/relationships/slideLayout" Target="/ppt/slideLayouts/slideLayout4.xml" Id="Ra1ed616942a3464d" /><Relationship Type="http://schemas.openxmlformats.org/officeDocument/2006/relationships/slideLayout" Target="/ppt/slideLayouts/slideLayout5.xml" Id="R581d94a1f31049d6" /><Relationship Type="http://schemas.openxmlformats.org/officeDocument/2006/relationships/slideLayout" Target="/ppt/slideLayouts/slideLayout6.xml" Id="R29272609595d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97c7fc9624790"/>
    <p:sldLayoutId xmlns:r="http://schemas.openxmlformats.org/officeDocument/2006/relationships" id="2147483650" r:id="Red2e5bd2a4bf4e99"/>
    <p:sldLayoutId xmlns:r="http://schemas.openxmlformats.org/officeDocument/2006/relationships" id="2147483651" r:id="R12104a75964f4e9d"/>
    <p:sldLayoutId xmlns:r="http://schemas.openxmlformats.org/officeDocument/2006/relationships" id="2147483652" r:id="Ra1ed616942a3464d"/>
    <p:sldLayoutId xmlns:r="http://schemas.openxmlformats.org/officeDocument/2006/relationships" id="2147483653" r:id="R581d94a1f31049d6"/>
    <p:sldLayoutId xmlns:r="http://schemas.openxmlformats.org/officeDocument/2006/relationships" id="2147483654" r:id="R29272609595d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1238b3efc4b7b" /><Relationship Type="http://schemas.openxmlformats.org/officeDocument/2006/relationships/image" Target="/ppt/media/image.jpeg" Id="Rcd17ef6255c542f1" /><Relationship Type="http://schemas.openxmlformats.org/officeDocument/2006/relationships/image" Target="/ppt/media/image2.jpeg" Id="R4be5759d21264fff" /><Relationship Type="http://schemas.openxmlformats.org/officeDocument/2006/relationships/notesSlide" Target="/ppt/notesSlides/notesSlide1.xml" Id="Rfc9e9d32141a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121a7d0ba4a24" /><Relationship Type="http://schemas.openxmlformats.org/officeDocument/2006/relationships/image" Target="/ppt/media/image3.jpeg" Id="Rbad905d6851d4f79" /><Relationship Type="http://schemas.openxmlformats.org/officeDocument/2006/relationships/notesSlide" Target="/ppt/notesSlides/notesSlide2.xml" Id="R75b52239780e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5cf61ceae4555" /><Relationship Type="http://schemas.openxmlformats.org/officeDocument/2006/relationships/image" Target="/ppt/media/image4.jpeg" Id="R590a239d6af14ca7" /><Relationship Type="http://schemas.openxmlformats.org/officeDocument/2006/relationships/notesSlide" Target="/ppt/notesSlides/notesSlide3.xml" Id="Rb8272cb91eae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74125dcf94746" /><Relationship Type="http://schemas.openxmlformats.org/officeDocument/2006/relationships/image" Target="/ppt/media/image5.jpeg" Id="R8248d8f94ccf4dc8" /><Relationship Type="http://schemas.openxmlformats.org/officeDocument/2006/relationships/notesSlide" Target="/ppt/notesSlides/notesSlide4.xml" Id="R3f9256a904b8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1e8ca403b457c" /><Relationship Type="http://schemas.openxmlformats.org/officeDocument/2006/relationships/image" Target="/ppt/media/image6.jpeg" Id="Rf54b2f77d5f246a7" /><Relationship Type="http://schemas.openxmlformats.org/officeDocument/2006/relationships/image" Target="/ppt/media/image7.jpeg" Id="R3943c0a419984894" /><Relationship Type="http://schemas.openxmlformats.org/officeDocument/2006/relationships/notesSlide" Target="/ppt/notesSlides/notesSlide5.xml" Id="Rd73736aa729f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6ab4276444043" /><Relationship Type="http://schemas.openxmlformats.org/officeDocument/2006/relationships/image" Target="/ppt/media/image8.jpeg" Id="R9c3479e35d79448e" /><Relationship Type="http://schemas.openxmlformats.org/officeDocument/2006/relationships/notesSlide" Target="/ppt/notesSlides/notesSlide6.xml" Id="R98b03a001eb0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158EA-CC4A-4C20-9FF5-2F59799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90D91-4B67-414A-AC1A-DA55F16E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Binarios Windows: DLL y ejecutable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D1A69-B080-4F2B-BEB9-A68A5CE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51D29"/>
                </a:solidFill>
              </a:defRPr>
            </a:defPPr>
            <a:lvl1pPr>
              <a:defRPr sz="1875" b="1">
                <a:solidFill>
                  <a:srgbClr val="A51D29"/>
                </a:solidFill>
              </a:defRPr>
            </a:lvl1pPr>
            <a:lvl2pPr>
              <a:defRPr sz="1875" b="1">
                <a:solidFill>
                  <a:srgbClr val="A51D29"/>
                </a:solidFill>
              </a:defRPr>
            </a:lvl2pPr>
            <a:lvl3pPr>
              <a:defRPr sz="1875" b="1">
                <a:solidFill>
                  <a:srgbClr val="A51D29"/>
                </a:solidFill>
              </a:defRPr>
            </a:lvl3pPr>
            <a:lvl4pPr>
              <a:defRPr sz="1875" b="1">
                <a:solidFill>
                  <a:srgbClr val="A51D29"/>
                </a:solidFill>
              </a:defRPr>
            </a:lvl4pPr>
            <a:lvl5pPr>
              <a:defRPr sz="1875" b="1">
                <a:solidFill>
                  <a:srgbClr val="A51D29"/>
                </a:solidFill>
              </a:defRPr>
            </a:lvl5pPr>
            <a:lvl6pPr>
              <a:defRPr sz="1875" b="1">
                <a:solidFill>
                  <a:srgbClr val="A51D29"/>
                </a:solidFill>
              </a:defRPr>
            </a:lvl6pPr>
            <a:lvl7pPr>
              <a:defRPr sz="1875" b="1">
                <a:solidFill>
                  <a:srgbClr val="A51D29"/>
                </a:solidFill>
              </a:defRPr>
            </a:lvl7pPr>
            <a:lvl8pPr>
              <a:defRPr sz="1875" b="1">
                <a:solidFill>
                  <a:srgbClr val="A51D29"/>
                </a:solidFill>
              </a:defRPr>
            </a:lvl8pPr>
            <a:lvl9pPr>
              <a:defRPr sz="1875" b="1">
                <a:solidFill>
                  <a:srgbClr val="A51D29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51D29"/>
                </a:solidFill>
              </a:defRPr>
            </a:pPr>
            <a:r>
              <a:rPr sz="1875" b="1">
                <a:solidFill>
                  <a:srgbClr val="A51D29"/>
                </a:solidFill>
              </a:rPr>
              <a:t>MALICIOSO · confianza alta en reputación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92AFF-4145-4CAF-99AA-028E5DA3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1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19EEC-D8C5-4616-B001-A6932CED0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7ef6255c542f1"/>
          <a:stretch xmlns:a="http://schemas.openxmlformats.org/drawingml/2006/main"/>
        </p:blipFill>
        <p:spPr>
          <a:xfrm xmlns:a="http://schemas.openxmlformats.org/drawingml/2006/main">
            <a:off x="1199692" y="1714500"/>
            <a:ext cx="3839491" cy="3095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B2846-EBF4-409A-B271-290C738941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759d21264fff"/>
          <a:stretch xmlns:a="http://schemas.openxmlformats.org/drawingml/2006/main"/>
        </p:blipFill>
        <p:spPr>
          <a:xfrm xmlns:a="http://schemas.openxmlformats.org/drawingml/2006/main">
            <a:off x="6251149" y="1714500"/>
            <a:ext cx="5499952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12EB3-833A-44C9-A98D-D33F8F7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95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63E"/>
                </a:solidFill>
              </a:defRPr>
            </a:defPPr>
            <a:lvl1pPr>
              <a:defRPr sz="1875" b="1">
                <a:solidFill>
                  <a:srgbClr val="13263E"/>
                </a:solidFill>
              </a:defRPr>
            </a:lvl1pPr>
            <a:lvl2pPr>
              <a:defRPr sz="1875" b="1">
                <a:solidFill>
                  <a:srgbClr val="13263E"/>
                </a:solidFill>
              </a:defRPr>
            </a:lvl2pPr>
            <a:lvl3pPr>
              <a:defRPr sz="1875" b="1">
                <a:solidFill>
                  <a:srgbClr val="13263E"/>
                </a:solidFill>
              </a:defRPr>
            </a:lvl3pPr>
            <a:lvl4pPr>
              <a:defRPr sz="1875" b="1">
                <a:solidFill>
                  <a:srgbClr val="13263E"/>
                </a:solidFill>
              </a:defRPr>
            </a:lvl4pPr>
            <a:lvl5pPr>
              <a:defRPr sz="1875" b="1">
                <a:solidFill>
                  <a:srgbClr val="13263E"/>
                </a:solidFill>
              </a:defRPr>
            </a:lvl5pPr>
            <a:lvl6pPr>
              <a:defRPr sz="1875" b="1">
                <a:solidFill>
                  <a:srgbClr val="13263E"/>
                </a:solidFill>
              </a:defRPr>
            </a:lvl6pPr>
            <a:lvl7pPr>
              <a:defRPr sz="1875" b="1">
                <a:solidFill>
                  <a:srgbClr val="13263E"/>
                </a:solidFill>
              </a:defRPr>
            </a:lvl7pPr>
            <a:lvl8pPr>
              <a:defRPr sz="1875" b="1">
                <a:solidFill>
                  <a:srgbClr val="13263E"/>
                </a:solidFill>
              </a:defRPr>
            </a:lvl8pPr>
            <a:lvl9pPr>
              <a:defRPr sz="187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63E"/>
                </a:solidFill>
              </a:defRPr>
            </a:pPr>
            <a:r>
              <a:rPr sz="1875" b="1">
                <a:solidFill>
                  <a:srgbClr val="13263E"/>
                </a:solidFill>
              </a:rPr>
              <a:t>F001 · DLL x64 · 47 detecciones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A9AB3-90DE-4927-A851-C3A0B70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63E"/>
                </a:solidFill>
              </a:defRPr>
            </a:defPPr>
            <a:lvl1pPr>
              <a:defRPr sz="1875" b="1">
                <a:solidFill>
                  <a:srgbClr val="13263E"/>
                </a:solidFill>
              </a:defRPr>
            </a:lvl1pPr>
            <a:lvl2pPr>
              <a:defRPr sz="1875" b="1">
                <a:solidFill>
                  <a:srgbClr val="13263E"/>
                </a:solidFill>
              </a:defRPr>
            </a:lvl2pPr>
            <a:lvl3pPr>
              <a:defRPr sz="1875" b="1">
                <a:solidFill>
                  <a:srgbClr val="13263E"/>
                </a:solidFill>
              </a:defRPr>
            </a:lvl3pPr>
            <a:lvl4pPr>
              <a:defRPr sz="1875" b="1">
                <a:solidFill>
                  <a:srgbClr val="13263E"/>
                </a:solidFill>
              </a:defRPr>
            </a:lvl4pPr>
            <a:lvl5pPr>
              <a:defRPr sz="1875" b="1">
                <a:solidFill>
                  <a:srgbClr val="13263E"/>
                </a:solidFill>
              </a:defRPr>
            </a:lvl5pPr>
            <a:lvl6pPr>
              <a:defRPr sz="1875" b="1">
                <a:solidFill>
                  <a:srgbClr val="13263E"/>
                </a:solidFill>
              </a:defRPr>
            </a:lvl6pPr>
            <a:lvl7pPr>
              <a:defRPr sz="1875" b="1">
                <a:solidFill>
                  <a:srgbClr val="13263E"/>
                </a:solidFill>
              </a:defRPr>
            </a:lvl7pPr>
            <a:lvl8pPr>
              <a:defRPr sz="1875" b="1">
                <a:solidFill>
                  <a:srgbClr val="13263E"/>
                </a:solidFill>
              </a:defRPr>
            </a:lvl8pPr>
            <a:lvl9pPr>
              <a:defRPr sz="187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63E"/>
                </a:solidFill>
              </a:defRPr>
            </a:pPr>
            <a:r>
              <a:rPr sz="1875" b="1">
                <a:solidFill>
                  <a:srgbClr val="13263E"/>
                </a:solidFill>
              </a:rPr>
              <a:t>F002 · EXE x64 · 47 detecciones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08218-75D6-48F9-A715-19470E1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81625"/>
            <a:ext cx="1143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63E"/>
                </a:solidFill>
              </a:defRPr>
            </a:defPPr>
            <a:lvl1pPr>
              <a:defRPr sz="2025" b="0">
                <a:solidFill>
                  <a:srgbClr val="13263E"/>
                </a:solidFill>
              </a:defRPr>
            </a:lvl1pPr>
            <a:lvl2pPr>
              <a:defRPr sz="2025" b="0">
                <a:solidFill>
                  <a:srgbClr val="13263E"/>
                </a:solidFill>
              </a:defRPr>
            </a:lvl2pPr>
            <a:lvl3pPr>
              <a:defRPr sz="2025" b="0">
                <a:solidFill>
                  <a:srgbClr val="13263E"/>
                </a:solidFill>
              </a:defRPr>
            </a:lvl3pPr>
            <a:lvl4pPr>
              <a:defRPr sz="2025" b="0">
                <a:solidFill>
                  <a:srgbClr val="13263E"/>
                </a:solidFill>
              </a:defRPr>
            </a:lvl4pPr>
            <a:lvl5pPr>
              <a:defRPr sz="2025" b="0">
                <a:solidFill>
                  <a:srgbClr val="13263E"/>
                </a:solidFill>
              </a:defRPr>
            </a:lvl5pPr>
            <a:lvl6pPr>
              <a:defRPr sz="2025" b="0">
                <a:solidFill>
                  <a:srgbClr val="13263E"/>
                </a:solidFill>
              </a:defRPr>
            </a:lvl6pPr>
            <a:lvl7pPr>
              <a:defRPr sz="2025" b="0">
                <a:solidFill>
                  <a:srgbClr val="13263E"/>
                </a:solidFill>
              </a:defRPr>
            </a:lvl7pPr>
            <a:lvl8pPr>
              <a:defRPr sz="2025" b="0">
                <a:solidFill>
                  <a:srgbClr val="13263E"/>
                </a:solidFill>
              </a:defRPr>
            </a:lvl8pPr>
            <a:lvl9pPr>
              <a:defRPr sz="2025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63E"/>
                </a:solidFill>
              </a:defRPr>
            </a:pPr>
            <a:r>
              <a:rPr sz="2025" b="0">
                <a:solidFill>
                  <a:srgbClr val="13263E"/>
                </a:solidFill>
              </a:rPr>
              <a:t>Los hashes y tamaños coinciden con los informes.</a:t>
            </a:r>
          </a:p>
          <a:p xmlns:a="http://schemas.openxmlformats.org/drawingml/2006/main">
            <a:pPr>
              <a:defRPr sz="2025" b="0">
                <a:solidFill>
                  <a:srgbClr val="13263E"/>
                </a:solidFill>
              </a:defRPr>
            </a:pPr>
            <a:r>
              <a:rPr sz="2025" b="0">
                <a:solidFill>
                  <a:srgbClr val="13263E"/>
                </a:solidFill>
              </a:rPr>
              <a:t>Troyano / acceso remoto; ValleyRAT es una atribución de terceros.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5D9C2-7BB4-4BDA-9EEF-1AEAF32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VirusTotal: informes existentes. Capturas: 23/10/2026. Ninguna muestra fue ejecutada.</a:t>
            </a:r>
          </a:p>
        </p:txBody>
      </p:sp>
    </p:spTree>
    <p:extLst>
      <p:ext uri="{BB962C8B-B14F-4D97-AF65-F5344CB8AC3E}">
        <p14:creationId xmlns:p14="http://schemas.microsoft.com/office/powerpoint/2010/main" val="482990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52D5-3DA5-4D7F-9833-2BDA0EC7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70F45-0DA9-49E9-9C01-5146EDE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Correo R004: recurso remoto malicioso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D81F7-6D17-4D76-89DA-0C75820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51D29"/>
                </a:solidFill>
              </a:defRPr>
            </a:defPPr>
            <a:lvl1pPr>
              <a:defRPr sz="1875" b="1">
                <a:solidFill>
                  <a:srgbClr val="A51D29"/>
                </a:solidFill>
              </a:defRPr>
            </a:lvl1pPr>
            <a:lvl2pPr>
              <a:defRPr sz="1875" b="1">
                <a:solidFill>
                  <a:srgbClr val="A51D29"/>
                </a:solidFill>
              </a:defRPr>
            </a:lvl2pPr>
            <a:lvl3pPr>
              <a:defRPr sz="1875" b="1">
                <a:solidFill>
                  <a:srgbClr val="A51D29"/>
                </a:solidFill>
              </a:defRPr>
            </a:lvl3pPr>
            <a:lvl4pPr>
              <a:defRPr sz="1875" b="1">
                <a:solidFill>
                  <a:srgbClr val="A51D29"/>
                </a:solidFill>
              </a:defRPr>
            </a:lvl4pPr>
            <a:lvl5pPr>
              <a:defRPr sz="1875" b="1">
                <a:solidFill>
                  <a:srgbClr val="A51D29"/>
                </a:solidFill>
              </a:defRPr>
            </a:lvl5pPr>
            <a:lvl6pPr>
              <a:defRPr sz="1875" b="1">
                <a:solidFill>
                  <a:srgbClr val="A51D29"/>
                </a:solidFill>
              </a:defRPr>
            </a:lvl6pPr>
            <a:lvl7pPr>
              <a:defRPr sz="1875" b="1">
                <a:solidFill>
                  <a:srgbClr val="A51D29"/>
                </a:solidFill>
              </a:defRPr>
            </a:lvl7pPr>
            <a:lvl8pPr>
              <a:defRPr sz="1875" b="1">
                <a:solidFill>
                  <a:srgbClr val="A51D29"/>
                </a:solidFill>
              </a:defRPr>
            </a:lvl8pPr>
            <a:lvl9pPr>
              <a:defRPr sz="1875" b="1">
                <a:solidFill>
                  <a:srgbClr val="A51D29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51D29"/>
                </a:solidFill>
              </a:defRPr>
            </a:pPr>
            <a:r>
              <a:rPr sz="1875" b="1">
                <a:solidFill>
                  <a:srgbClr val="A51D29"/>
                </a:solidFill>
              </a:rPr>
              <a:t>MALICIOSO · confianza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A7E04-D8B9-41F2-9003-773F77C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2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60F10-C04A-4375-BB35-AE63610689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905d6851d4f79"/>
          <a:stretch xmlns:a="http://schemas.openxmlformats.org/drawingml/2006/main"/>
        </p:blipFill>
        <p:spPr>
          <a:xfrm xmlns:a="http://schemas.openxmlformats.org/drawingml/2006/main">
            <a:off x="381769" y="1714500"/>
            <a:ext cx="7666087" cy="4314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C9B7C-13B5-4AE3-9E3D-BF25587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51D29"/>
                </a:solidFill>
              </a:defRPr>
            </a:defPPr>
            <a:lvl1pPr>
              <a:defRPr sz="2550" b="1">
                <a:solidFill>
                  <a:srgbClr val="A51D29"/>
                </a:solidFill>
              </a:defRPr>
            </a:lvl1pPr>
            <a:lvl2pPr>
              <a:defRPr sz="2550" b="1">
                <a:solidFill>
                  <a:srgbClr val="A51D29"/>
                </a:solidFill>
              </a:defRPr>
            </a:lvl2pPr>
            <a:lvl3pPr>
              <a:defRPr sz="2550" b="1">
                <a:solidFill>
                  <a:srgbClr val="A51D29"/>
                </a:solidFill>
              </a:defRPr>
            </a:lvl3pPr>
            <a:lvl4pPr>
              <a:defRPr sz="2550" b="1">
                <a:solidFill>
                  <a:srgbClr val="A51D29"/>
                </a:solidFill>
              </a:defRPr>
            </a:lvl4pPr>
            <a:lvl5pPr>
              <a:defRPr sz="2550" b="1">
                <a:solidFill>
                  <a:srgbClr val="A51D29"/>
                </a:solidFill>
              </a:defRPr>
            </a:lvl5pPr>
            <a:lvl6pPr>
              <a:defRPr sz="2550" b="1">
                <a:solidFill>
                  <a:srgbClr val="A51D29"/>
                </a:solidFill>
              </a:defRPr>
            </a:lvl6pPr>
            <a:lvl7pPr>
              <a:defRPr sz="2550" b="1">
                <a:solidFill>
                  <a:srgbClr val="A51D29"/>
                </a:solidFill>
              </a:defRPr>
            </a:lvl7pPr>
            <a:lvl8pPr>
              <a:defRPr sz="2550" b="1">
                <a:solidFill>
                  <a:srgbClr val="A51D29"/>
                </a:solidFill>
              </a:defRPr>
            </a:lvl8pPr>
            <a:lvl9pPr>
              <a:defRPr sz="2550" b="1">
                <a:solidFill>
                  <a:srgbClr val="A51D2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51D29"/>
                </a:solidFill>
              </a:defRPr>
            </a:pPr>
            <a:r>
              <a:rPr sz="2550" b="1">
                <a:solidFill>
                  <a:srgbClr val="A51D29"/>
                </a:solidFill>
              </a:rPr>
              <a:t>12 detecciones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6D48B-B9D2-4416-A910-E55683A8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333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63E"/>
                </a:solidFill>
              </a:defRPr>
            </a:defPPr>
            <a:lvl1pPr>
              <a:defRPr sz="1950" b="0">
                <a:solidFill>
                  <a:srgbClr val="13263E"/>
                </a:solidFill>
              </a:defRPr>
            </a:lvl1pPr>
            <a:lvl2pPr>
              <a:defRPr sz="1950" b="0">
                <a:solidFill>
                  <a:srgbClr val="13263E"/>
                </a:solidFill>
              </a:defRPr>
            </a:lvl2pPr>
            <a:lvl3pPr>
              <a:defRPr sz="1950" b="0">
                <a:solidFill>
                  <a:srgbClr val="13263E"/>
                </a:solidFill>
              </a:defRPr>
            </a:lvl3pPr>
            <a:lvl4pPr>
              <a:defRPr sz="1950" b="0">
                <a:solidFill>
                  <a:srgbClr val="13263E"/>
                </a:solidFill>
              </a:defRPr>
            </a:lvl4pPr>
            <a:lvl5pPr>
              <a:defRPr sz="1950" b="0">
                <a:solidFill>
                  <a:srgbClr val="13263E"/>
                </a:solidFill>
              </a:defRPr>
            </a:lvl5pPr>
            <a:lvl6pPr>
              <a:defRPr sz="1950" b="0">
                <a:solidFill>
                  <a:srgbClr val="13263E"/>
                </a:solidFill>
              </a:defRPr>
            </a:lvl6pPr>
            <a:lvl7pPr>
              <a:defRPr sz="1950" b="0">
                <a:solidFill>
                  <a:srgbClr val="13263E"/>
                </a:solidFill>
              </a:defRPr>
            </a:lvl7pPr>
            <a:lvl8pPr>
              <a:defRPr sz="1950" b="0">
                <a:solidFill>
                  <a:srgbClr val="13263E"/>
                </a:solidFill>
              </a:defRPr>
            </a:lvl8pPr>
            <a:lvl9pPr>
              <a:defRPr sz="1950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URL exacta de un píxel remoto en pnreap[.]com.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Publicidad, acortadores y distintas identidades.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No se confirmó robo de credenciales ni infección.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DDA54-5FD8-45DD-8AE7-FF4A4F8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VirusTotal · URL exacta corroborada el 23/10/2026. El correo no contiene adjuntos.</a:t>
            </a:r>
          </a:p>
        </p:txBody>
      </p:sp>
    </p:spTree>
    <p:extLst>
      <p:ext uri="{BB962C8B-B14F-4D97-AF65-F5344CB8AC3E}">
        <p14:creationId xmlns:p14="http://schemas.microsoft.com/office/powerpoint/2010/main" val="1423985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5DD53-3230-4197-A67C-501C289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420A-5353-43DF-8157-DFEA37A0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Correo R005: promoción de apuestas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C1C92-77AC-4D59-B563-9B89C45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96100"/>
                </a:solidFill>
              </a:defRPr>
            </a:defPPr>
            <a:lvl1pPr>
              <a:defRPr sz="1875" b="1">
                <a:solidFill>
                  <a:srgbClr val="996100"/>
                </a:solidFill>
              </a:defRPr>
            </a:lvl1pPr>
            <a:lvl2pPr>
              <a:defRPr sz="1875" b="1">
                <a:solidFill>
                  <a:srgbClr val="996100"/>
                </a:solidFill>
              </a:defRPr>
            </a:lvl2pPr>
            <a:lvl3pPr>
              <a:defRPr sz="1875" b="1">
                <a:solidFill>
                  <a:srgbClr val="996100"/>
                </a:solidFill>
              </a:defRPr>
            </a:lvl3pPr>
            <a:lvl4pPr>
              <a:defRPr sz="1875" b="1">
                <a:solidFill>
                  <a:srgbClr val="996100"/>
                </a:solidFill>
              </a:defRPr>
            </a:lvl4pPr>
            <a:lvl5pPr>
              <a:defRPr sz="1875" b="1">
                <a:solidFill>
                  <a:srgbClr val="996100"/>
                </a:solidFill>
              </a:defRPr>
            </a:lvl5pPr>
            <a:lvl6pPr>
              <a:defRPr sz="1875" b="1">
                <a:solidFill>
                  <a:srgbClr val="996100"/>
                </a:solidFill>
              </a:defRPr>
            </a:lvl6pPr>
            <a:lvl7pPr>
              <a:defRPr sz="1875" b="1">
                <a:solidFill>
                  <a:srgbClr val="996100"/>
                </a:solidFill>
              </a:defRPr>
            </a:lvl7pPr>
            <a:lvl8pPr>
              <a:defRPr sz="1875" b="1">
                <a:solidFill>
                  <a:srgbClr val="996100"/>
                </a:solidFill>
              </a:defRPr>
            </a:lvl8pPr>
            <a:lvl9pPr>
              <a:defRPr sz="1875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96100"/>
                </a:solidFill>
              </a:defRPr>
            </a:pPr>
            <a:r>
              <a:rPr sz="1875" b="1">
                <a:solidFill>
                  <a:srgbClr val="996100"/>
                </a:solidFill>
              </a:rPr>
              <a:t>SOSPECHOSO · confianza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A682E-6AB8-4B6A-80E0-CA57DA05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3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F6BE-3A36-4493-8DAB-DFE39337F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a239d6af14ca7"/>
          <a:stretch xmlns:a="http://schemas.openxmlformats.org/drawingml/2006/main"/>
        </p:blipFill>
        <p:spPr>
          <a:xfrm xmlns:a="http://schemas.openxmlformats.org/drawingml/2006/main">
            <a:off x="381769" y="1714500"/>
            <a:ext cx="7666087" cy="4314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04A15-E3C3-449B-89DF-5500BE60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996100"/>
                </a:solidFill>
              </a:defRPr>
            </a:defPPr>
            <a:lvl1pPr>
              <a:defRPr sz="2325" b="1">
                <a:solidFill>
                  <a:srgbClr val="996100"/>
                </a:solidFill>
              </a:defRPr>
            </a:lvl1pPr>
            <a:lvl2pPr>
              <a:defRPr sz="2325" b="1">
                <a:solidFill>
                  <a:srgbClr val="996100"/>
                </a:solidFill>
              </a:defRPr>
            </a:lvl2pPr>
            <a:lvl3pPr>
              <a:defRPr sz="2325" b="1">
                <a:solidFill>
                  <a:srgbClr val="996100"/>
                </a:solidFill>
              </a:defRPr>
            </a:lvl3pPr>
            <a:lvl4pPr>
              <a:defRPr sz="2325" b="1">
                <a:solidFill>
                  <a:srgbClr val="996100"/>
                </a:solidFill>
              </a:defRPr>
            </a:lvl4pPr>
            <a:lvl5pPr>
              <a:defRPr sz="2325" b="1">
                <a:solidFill>
                  <a:srgbClr val="996100"/>
                </a:solidFill>
              </a:defRPr>
            </a:lvl5pPr>
            <a:lvl6pPr>
              <a:defRPr sz="2325" b="1">
                <a:solidFill>
                  <a:srgbClr val="996100"/>
                </a:solidFill>
              </a:defRPr>
            </a:lvl6pPr>
            <a:lvl7pPr>
              <a:defRPr sz="2325" b="1">
                <a:solidFill>
                  <a:srgbClr val="996100"/>
                </a:solidFill>
              </a:defRPr>
            </a:lvl7pPr>
            <a:lvl8pPr>
              <a:defRPr sz="2325" b="1">
                <a:solidFill>
                  <a:srgbClr val="996100"/>
                </a:solidFill>
              </a:defRPr>
            </a:lvl8pPr>
            <a:lvl9pPr>
              <a:defRPr sz="2325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96100"/>
                </a:solidFill>
              </a:defRPr>
            </a:pPr>
            <a:r>
              <a:rPr sz="2325" b="1">
                <a:solidFill>
                  <a:srgbClr val="996100"/>
                </a:solidFill>
              </a:rPr>
              <a:t>7 maliciosos</a:t>
            </a:r>
          </a:p>
          <a:p xmlns:a="http://schemas.openxmlformats.org/drawingml/2006/main">
            <a:pPr>
              <a:defRPr sz="2325" b="1">
                <a:solidFill>
                  <a:srgbClr val="996100"/>
                </a:solidFill>
              </a:defRPr>
            </a:pPr>
            <a:r>
              <a:rPr sz="2325" b="1">
                <a:solidFill>
                  <a:srgbClr val="996100"/>
                </a:solidFill>
              </a:rPr>
              <a:t>2 sospechosos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11FB8-C649-4473-B2B3-39F2724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63E"/>
                </a:solidFill>
              </a:defRPr>
            </a:defPPr>
            <a:lvl1pPr>
              <a:defRPr sz="1950" b="0">
                <a:solidFill>
                  <a:srgbClr val="13263E"/>
                </a:solidFill>
              </a:defRPr>
            </a:lvl1pPr>
            <a:lvl2pPr>
              <a:defRPr sz="1950" b="0">
                <a:solidFill>
                  <a:srgbClr val="13263E"/>
                </a:solidFill>
              </a:defRPr>
            </a:lvl2pPr>
            <a:lvl3pPr>
              <a:defRPr sz="1950" b="0">
                <a:solidFill>
                  <a:srgbClr val="13263E"/>
                </a:solidFill>
              </a:defRPr>
            </a:lvl3pPr>
            <a:lvl4pPr>
              <a:defRPr sz="1950" b="0">
                <a:solidFill>
                  <a:srgbClr val="13263E"/>
                </a:solidFill>
              </a:defRPr>
            </a:lvl4pPr>
            <a:lvl5pPr>
              <a:defRPr sz="1950" b="0">
                <a:solidFill>
                  <a:srgbClr val="13263E"/>
                </a:solidFill>
              </a:defRPr>
            </a:lvl5pPr>
            <a:lvl6pPr>
              <a:defRPr sz="1950" b="0">
                <a:solidFill>
                  <a:srgbClr val="13263E"/>
                </a:solidFill>
              </a:defRPr>
            </a:lvl6pPr>
            <a:lvl7pPr>
              <a:defRPr sz="1950" b="0">
                <a:solidFill>
                  <a:srgbClr val="13263E"/>
                </a:solidFill>
              </a:defRPr>
            </a:lvl7pPr>
            <a:lvl8pPr>
              <a:defRPr sz="1950" b="0">
                <a:solidFill>
                  <a:srgbClr val="13263E"/>
                </a:solidFill>
              </a:defRPr>
            </a:lvl8pPr>
            <a:lvl9pPr>
              <a:defRPr sz="1950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Alertas del dominio woondsplay[.]com.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Tres enlaces de acción y un píxel; cero adjuntos.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Las URLs exactas no tienen reputación concluyente.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E73B1-7F4A-4421-AC19-B76F58D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VirusTotal · Reputación del dominio. No equivale al veredicto de cada URL.</a:t>
            </a:r>
          </a:p>
        </p:txBody>
      </p:sp>
    </p:spTree>
    <p:extLst>
      <p:ext uri="{BB962C8B-B14F-4D97-AF65-F5344CB8AC3E}">
        <p14:creationId xmlns:p14="http://schemas.microsoft.com/office/powerpoint/2010/main" val="692337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ACF8E-66E8-4EE9-97BC-A1FBF0F5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FD50D-D149-46AA-AB1F-D04A040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U001: consulta financiera con enlace externo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419E4-DF97-4925-833F-7DD5119F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96100"/>
                </a:solidFill>
              </a:defRPr>
            </a:defPPr>
            <a:lvl1pPr>
              <a:defRPr sz="1875" b="1">
                <a:solidFill>
                  <a:srgbClr val="996100"/>
                </a:solidFill>
              </a:defRPr>
            </a:lvl1pPr>
            <a:lvl2pPr>
              <a:defRPr sz="1875" b="1">
                <a:solidFill>
                  <a:srgbClr val="996100"/>
                </a:solidFill>
              </a:defRPr>
            </a:lvl2pPr>
            <a:lvl3pPr>
              <a:defRPr sz="1875" b="1">
                <a:solidFill>
                  <a:srgbClr val="996100"/>
                </a:solidFill>
              </a:defRPr>
            </a:lvl3pPr>
            <a:lvl4pPr>
              <a:defRPr sz="1875" b="1">
                <a:solidFill>
                  <a:srgbClr val="996100"/>
                </a:solidFill>
              </a:defRPr>
            </a:lvl4pPr>
            <a:lvl5pPr>
              <a:defRPr sz="1875" b="1">
                <a:solidFill>
                  <a:srgbClr val="996100"/>
                </a:solidFill>
              </a:defRPr>
            </a:lvl5pPr>
            <a:lvl6pPr>
              <a:defRPr sz="1875" b="1">
                <a:solidFill>
                  <a:srgbClr val="996100"/>
                </a:solidFill>
              </a:defRPr>
            </a:lvl6pPr>
            <a:lvl7pPr>
              <a:defRPr sz="1875" b="1">
                <a:solidFill>
                  <a:srgbClr val="996100"/>
                </a:solidFill>
              </a:defRPr>
            </a:lvl7pPr>
            <a:lvl8pPr>
              <a:defRPr sz="1875" b="1">
                <a:solidFill>
                  <a:srgbClr val="996100"/>
                </a:solidFill>
              </a:defRPr>
            </a:lvl8pPr>
            <a:lvl9pPr>
              <a:defRPr sz="1875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96100"/>
                </a:solidFill>
              </a:defRPr>
            </a:pPr>
            <a:r>
              <a:rPr sz="1875" b="1">
                <a:solidFill>
                  <a:srgbClr val="996100"/>
                </a:solidFill>
              </a:rPr>
              <a:t>SOSPECHOSO · confianza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4D8A6-3AFE-4EFA-9F92-0B9C93E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4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7968-147A-4F32-AD86-29D6D17A7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d8f94ccf4dc8"/>
          <a:stretch xmlns:a="http://schemas.openxmlformats.org/drawingml/2006/main"/>
        </p:blipFill>
        <p:spPr>
          <a:xfrm xmlns:a="http://schemas.openxmlformats.org/drawingml/2006/main">
            <a:off x="381000" y="1715393"/>
            <a:ext cx="7667625" cy="431303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F9868-2879-452D-B88E-1F49AD39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996100"/>
                </a:solidFill>
              </a:defRPr>
            </a:defPPr>
            <a:lvl1pPr>
              <a:defRPr sz="2325" b="1">
                <a:solidFill>
                  <a:srgbClr val="996100"/>
                </a:solidFill>
              </a:defRPr>
            </a:lvl1pPr>
            <a:lvl2pPr>
              <a:defRPr sz="2325" b="1">
                <a:solidFill>
                  <a:srgbClr val="996100"/>
                </a:solidFill>
              </a:defRPr>
            </a:lvl2pPr>
            <a:lvl3pPr>
              <a:defRPr sz="2325" b="1">
                <a:solidFill>
                  <a:srgbClr val="996100"/>
                </a:solidFill>
              </a:defRPr>
            </a:lvl3pPr>
            <a:lvl4pPr>
              <a:defRPr sz="2325" b="1">
                <a:solidFill>
                  <a:srgbClr val="996100"/>
                </a:solidFill>
              </a:defRPr>
            </a:lvl4pPr>
            <a:lvl5pPr>
              <a:defRPr sz="2325" b="1">
                <a:solidFill>
                  <a:srgbClr val="996100"/>
                </a:solidFill>
              </a:defRPr>
            </a:lvl5pPr>
            <a:lvl6pPr>
              <a:defRPr sz="2325" b="1">
                <a:solidFill>
                  <a:srgbClr val="996100"/>
                </a:solidFill>
              </a:defRPr>
            </a:lvl6pPr>
            <a:lvl7pPr>
              <a:defRPr sz="2325" b="1">
                <a:solidFill>
                  <a:srgbClr val="996100"/>
                </a:solidFill>
              </a:defRPr>
            </a:lvl7pPr>
            <a:lvl8pPr>
              <a:defRPr sz="2325" b="1">
                <a:solidFill>
                  <a:srgbClr val="996100"/>
                </a:solidFill>
              </a:defRPr>
            </a:lvl8pPr>
            <a:lvl9pPr>
              <a:defRPr sz="2325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96100"/>
                </a:solidFill>
              </a:defRPr>
            </a:pPr>
            <a:r>
              <a:rPr sz="2325" b="1">
                <a:solidFill>
                  <a:srgbClr val="996100"/>
                </a:solidFill>
              </a:rPr>
              <a:t>2 alertas en la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398F1-2CEE-420D-863F-D8C1B6AD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63E"/>
                </a:solidFill>
              </a:defRPr>
            </a:defPPr>
            <a:lvl1pPr>
              <a:defRPr sz="1950" b="0">
                <a:solidFill>
                  <a:srgbClr val="13263E"/>
                </a:solidFill>
              </a:defRPr>
            </a:lvl1pPr>
            <a:lvl2pPr>
              <a:defRPr sz="1950" b="0">
                <a:solidFill>
                  <a:srgbClr val="13263E"/>
                </a:solidFill>
              </a:defRPr>
            </a:lvl2pPr>
            <a:lvl3pPr>
              <a:defRPr sz="1950" b="0">
                <a:solidFill>
                  <a:srgbClr val="13263E"/>
                </a:solidFill>
              </a:defRPr>
            </a:lvl3pPr>
            <a:lvl4pPr>
              <a:defRPr sz="1950" b="0">
                <a:solidFill>
                  <a:srgbClr val="13263E"/>
                </a:solidFill>
              </a:defRPr>
            </a:lvl4pPr>
            <a:lvl5pPr>
              <a:defRPr sz="1950" b="0">
                <a:solidFill>
                  <a:srgbClr val="13263E"/>
                </a:solidFill>
              </a:defRPr>
            </a:lvl5pPr>
            <a:lvl6pPr>
              <a:defRPr sz="1950" b="0">
                <a:solidFill>
                  <a:srgbClr val="13263E"/>
                </a:solidFill>
              </a:defRPr>
            </a:lvl6pPr>
            <a:lvl7pPr>
              <a:defRPr sz="1950" b="0">
                <a:solidFill>
                  <a:srgbClr val="13263E"/>
                </a:solidFill>
              </a:defRPr>
            </a:lvl7pPr>
            <a:lvl8pPr>
              <a:defRPr sz="1950" b="0">
                <a:solidFill>
                  <a:srgbClr val="13263E"/>
                </a:solidFill>
              </a:defRPr>
            </a:lvl8pPr>
            <a:lvl9pPr>
              <a:defRPr sz="1950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Página histórica sobre CPF y orientación financiera.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Enlace a un login externo, sin seguirlo.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No se observó captura de credenciales.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C1F46-186C-41E5-9CA7-8CC3263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urlscan · Captura histórica del 16/10/2026. Dominio: g-comeceseuatendimenton[.]shop</a:t>
            </a:r>
          </a:p>
        </p:txBody>
      </p:sp>
    </p:spTree>
    <p:extLst>
      <p:ext uri="{BB962C8B-B14F-4D97-AF65-F5344CB8AC3E}">
        <p14:creationId xmlns:p14="http://schemas.microsoft.com/office/powerpoint/2010/main" val="429555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6885-DEA5-4415-A72C-108E658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50DF6-664B-4D01-B9F5-F79F8F59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U002: descarga ELF para MIPS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AD0DE-3E6A-457E-B938-9BCB7C0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51D29"/>
                </a:solidFill>
              </a:defRPr>
            </a:defPPr>
            <a:lvl1pPr>
              <a:defRPr sz="1875" b="1">
                <a:solidFill>
                  <a:srgbClr val="A51D29"/>
                </a:solidFill>
              </a:defRPr>
            </a:lvl1pPr>
            <a:lvl2pPr>
              <a:defRPr sz="1875" b="1">
                <a:solidFill>
                  <a:srgbClr val="A51D29"/>
                </a:solidFill>
              </a:defRPr>
            </a:lvl2pPr>
            <a:lvl3pPr>
              <a:defRPr sz="1875" b="1">
                <a:solidFill>
                  <a:srgbClr val="A51D29"/>
                </a:solidFill>
              </a:defRPr>
            </a:lvl3pPr>
            <a:lvl4pPr>
              <a:defRPr sz="1875" b="1">
                <a:solidFill>
                  <a:srgbClr val="A51D29"/>
                </a:solidFill>
              </a:defRPr>
            </a:lvl4pPr>
            <a:lvl5pPr>
              <a:defRPr sz="1875" b="1">
                <a:solidFill>
                  <a:srgbClr val="A51D29"/>
                </a:solidFill>
              </a:defRPr>
            </a:lvl5pPr>
            <a:lvl6pPr>
              <a:defRPr sz="1875" b="1">
                <a:solidFill>
                  <a:srgbClr val="A51D29"/>
                </a:solidFill>
              </a:defRPr>
            </a:lvl6pPr>
            <a:lvl7pPr>
              <a:defRPr sz="1875" b="1">
                <a:solidFill>
                  <a:srgbClr val="A51D29"/>
                </a:solidFill>
              </a:defRPr>
            </a:lvl7pPr>
            <a:lvl8pPr>
              <a:defRPr sz="1875" b="1">
                <a:solidFill>
                  <a:srgbClr val="A51D29"/>
                </a:solidFill>
              </a:defRPr>
            </a:lvl8pPr>
            <a:lvl9pPr>
              <a:defRPr sz="1875" b="1">
                <a:solidFill>
                  <a:srgbClr val="A51D29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51D29"/>
                </a:solidFill>
              </a:defRPr>
            </a:pPr>
            <a:r>
              <a:rPr sz="1875" b="1">
                <a:solidFill>
                  <a:srgbClr val="A51D29"/>
                </a:solidFill>
              </a:rPr>
              <a:t>MALICIOSO · confianza alta en asociación y reputación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1DD4-013E-4292-B0CF-5FA6930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5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2035C-9B9E-43FE-90C3-BB2D1E794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b2f77d5f246a7"/>
          <a:stretch xmlns:a="http://schemas.openxmlformats.org/drawingml/2006/main"/>
        </p:blipFill>
        <p:spPr>
          <a:xfrm xmlns:a="http://schemas.openxmlformats.org/drawingml/2006/main">
            <a:off x="381000" y="1769157"/>
            <a:ext cx="5476875" cy="308156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F140-D591-446A-813E-266E28E39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3c0a419984894"/>
          <a:stretch xmlns:a="http://schemas.openxmlformats.org/drawingml/2006/main"/>
        </p:blipFill>
        <p:spPr>
          <a:xfrm xmlns:a="http://schemas.openxmlformats.org/drawingml/2006/main">
            <a:off x="6191250" y="1728411"/>
            <a:ext cx="5619750" cy="316305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D72F7-4DBC-45B7-88CD-83D188DF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482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263E"/>
                </a:solidFill>
              </a:defRPr>
            </a:defPPr>
            <a:lvl1pPr>
              <a:defRPr sz="1950" b="1">
                <a:solidFill>
                  <a:srgbClr val="13263E"/>
                </a:solidFill>
              </a:defRPr>
            </a:lvl1pPr>
            <a:lvl2pPr>
              <a:defRPr sz="1950" b="1">
                <a:solidFill>
                  <a:srgbClr val="13263E"/>
                </a:solidFill>
              </a:defRPr>
            </a:lvl2pPr>
            <a:lvl3pPr>
              <a:defRPr sz="1950" b="1">
                <a:solidFill>
                  <a:srgbClr val="13263E"/>
                </a:solidFill>
              </a:defRPr>
            </a:lvl3pPr>
            <a:lvl4pPr>
              <a:defRPr sz="1950" b="1">
                <a:solidFill>
                  <a:srgbClr val="13263E"/>
                </a:solidFill>
              </a:defRPr>
            </a:lvl4pPr>
            <a:lvl5pPr>
              <a:defRPr sz="1950" b="1">
                <a:solidFill>
                  <a:srgbClr val="13263E"/>
                </a:solidFill>
              </a:defRPr>
            </a:lvl5pPr>
            <a:lvl6pPr>
              <a:defRPr sz="1950" b="1">
                <a:solidFill>
                  <a:srgbClr val="13263E"/>
                </a:solidFill>
              </a:defRPr>
            </a:lvl6pPr>
            <a:lvl7pPr>
              <a:defRPr sz="1950" b="1">
                <a:solidFill>
                  <a:srgbClr val="13263E"/>
                </a:solidFill>
              </a:defRPr>
            </a:lvl7pPr>
            <a:lvl8pPr>
              <a:defRPr sz="1950" b="1">
                <a:solidFill>
                  <a:srgbClr val="13263E"/>
                </a:solidFill>
              </a:defRPr>
            </a:lvl8pPr>
            <a:lvl9pPr>
              <a:defRPr sz="1950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263E"/>
                </a:solidFill>
              </a:defRPr>
            </a:pPr>
            <a:r>
              <a:rPr sz="1950" b="1">
                <a:solidFill>
                  <a:srgbClr val="13263E"/>
                </a:solidFill>
              </a:rPr>
              <a:t>urlscan · ELF de 137.480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A95DF-5975-44B4-9F8B-9100CAF9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263E"/>
                </a:solidFill>
              </a:defRPr>
            </a:defPPr>
            <a:lvl1pPr>
              <a:defRPr sz="1950" b="1">
                <a:solidFill>
                  <a:srgbClr val="13263E"/>
                </a:solidFill>
              </a:defRPr>
            </a:lvl1pPr>
            <a:lvl2pPr>
              <a:defRPr sz="1950" b="1">
                <a:solidFill>
                  <a:srgbClr val="13263E"/>
                </a:solidFill>
              </a:defRPr>
            </a:lvl2pPr>
            <a:lvl3pPr>
              <a:defRPr sz="1950" b="1">
                <a:solidFill>
                  <a:srgbClr val="13263E"/>
                </a:solidFill>
              </a:defRPr>
            </a:lvl3pPr>
            <a:lvl4pPr>
              <a:defRPr sz="1950" b="1">
                <a:solidFill>
                  <a:srgbClr val="13263E"/>
                </a:solidFill>
              </a:defRPr>
            </a:lvl4pPr>
            <a:lvl5pPr>
              <a:defRPr sz="1950" b="1">
                <a:solidFill>
                  <a:srgbClr val="13263E"/>
                </a:solidFill>
              </a:defRPr>
            </a:lvl5pPr>
            <a:lvl6pPr>
              <a:defRPr sz="1950" b="1">
                <a:solidFill>
                  <a:srgbClr val="13263E"/>
                </a:solidFill>
              </a:defRPr>
            </a:lvl6pPr>
            <a:lvl7pPr>
              <a:defRPr sz="1950" b="1">
                <a:solidFill>
                  <a:srgbClr val="13263E"/>
                </a:solidFill>
              </a:defRPr>
            </a:lvl7pPr>
            <a:lvl8pPr>
              <a:defRPr sz="1950" b="1">
                <a:solidFill>
                  <a:srgbClr val="13263E"/>
                </a:solidFill>
              </a:defRPr>
            </a:lvl8pPr>
            <a:lvl9pPr>
              <a:defRPr sz="1950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263E"/>
                </a:solidFill>
              </a:defRPr>
            </a:pPr>
            <a:r>
              <a:rPr sz="1950" b="1">
                <a:solidFill>
                  <a:srgbClr val="13263E"/>
                </a:solidFill>
              </a:rPr>
              <a:t>VirusTotal · 50 detecciones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C5A31-8378-4213-B208-56D37AD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63E"/>
                </a:solidFill>
              </a:defRPr>
            </a:defPPr>
            <a:lvl1pPr>
              <a:defRPr sz="1950" b="0">
                <a:solidFill>
                  <a:srgbClr val="13263E"/>
                </a:solidFill>
              </a:defRPr>
            </a:lvl1pPr>
            <a:lvl2pPr>
              <a:defRPr sz="1950" b="0">
                <a:solidFill>
                  <a:srgbClr val="13263E"/>
                </a:solidFill>
              </a:defRPr>
            </a:lvl2pPr>
            <a:lvl3pPr>
              <a:defRPr sz="1950" b="0">
                <a:solidFill>
                  <a:srgbClr val="13263E"/>
                </a:solidFill>
              </a:defRPr>
            </a:lvl3pPr>
            <a:lvl4pPr>
              <a:defRPr sz="1950" b="0">
                <a:solidFill>
                  <a:srgbClr val="13263E"/>
                </a:solidFill>
              </a:defRPr>
            </a:lvl4pPr>
            <a:lvl5pPr>
              <a:defRPr sz="1950" b="0">
                <a:solidFill>
                  <a:srgbClr val="13263E"/>
                </a:solidFill>
              </a:defRPr>
            </a:lvl5pPr>
            <a:lvl6pPr>
              <a:defRPr sz="1950" b="0">
                <a:solidFill>
                  <a:srgbClr val="13263E"/>
                </a:solidFill>
              </a:defRPr>
            </a:lvl6pPr>
            <a:lvl7pPr>
              <a:defRPr sz="1950" b="0">
                <a:solidFill>
                  <a:srgbClr val="13263E"/>
                </a:solidFill>
              </a:defRPr>
            </a:lvl7pPr>
            <a:lvl8pPr>
              <a:defRPr sz="1950" b="0">
                <a:solidFill>
                  <a:srgbClr val="13263E"/>
                </a:solidFill>
              </a:defRPr>
            </a:lvl8pPr>
            <a:lvl9pPr>
              <a:defRPr sz="1950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Mismo SHA-256 en ambos servicios. Etiquetas Mirai / Mozi.</a:t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Riesgo potencial: botnet y DDoS. La extensión .sh no define el formato.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E371C-EDAB-4620-8493-28415992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221[.]15[.]173[.]51:41661/bin[.]sh · Descarga histórica de terceros; no descargamos la carga.</a:t>
            </a:r>
          </a:p>
        </p:txBody>
      </p:sp>
    </p:spTree>
    <p:extLst>
      <p:ext uri="{BB962C8B-B14F-4D97-AF65-F5344CB8AC3E}">
        <p14:creationId xmlns:p14="http://schemas.microsoft.com/office/powerpoint/2010/main" val="255752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9E707-AB68-4921-BB33-4E2BE608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GRUPO 05  /  ANÁLISIS 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B7067-03C8-4B2C-BC47-8A1E6CD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43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3263E"/>
                </a:solidFill>
              </a:defRPr>
            </a:defPPr>
            <a:lvl1pPr>
              <a:defRPr sz="3225" b="1">
                <a:solidFill>
                  <a:srgbClr val="13263E"/>
                </a:solidFill>
              </a:defRPr>
            </a:lvl1pPr>
            <a:lvl2pPr>
              <a:defRPr sz="3225" b="1">
                <a:solidFill>
                  <a:srgbClr val="13263E"/>
                </a:solidFill>
              </a:defRPr>
            </a:lvl2pPr>
            <a:lvl3pPr>
              <a:defRPr sz="3225" b="1">
                <a:solidFill>
                  <a:srgbClr val="13263E"/>
                </a:solidFill>
              </a:defRPr>
            </a:lvl3pPr>
            <a:lvl4pPr>
              <a:defRPr sz="3225" b="1">
                <a:solidFill>
                  <a:srgbClr val="13263E"/>
                </a:solidFill>
              </a:defRPr>
            </a:lvl4pPr>
            <a:lvl5pPr>
              <a:defRPr sz="3225" b="1">
                <a:solidFill>
                  <a:srgbClr val="13263E"/>
                </a:solidFill>
              </a:defRPr>
            </a:lvl5pPr>
            <a:lvl6pPr>
              <a:defRPr sz="3225" b="1">
                <a:solidFill>
                  <a:srgbClr val="13263E"/>
                </a:solidFill>
              </a:defRPr>
            </a:lvl6pPr>
            <a:lvl7pPr>
              <a:defRPr sz="3225" b="1">
                <a:solidFill>
                  <a:srgbClr val="13263E"/>
                </a:solidFill>
              </a:defRPr>
            </a:lvl7pPr>
            <a:lvl8pPr>
              <a:defRPr sz="3225" b="1">
                <a:solidFill>
                  <a:srgbClr val="13263E"/>
                </a:solidFill>
              </a:defRPr>
            </a:lvl8pPr>
            <a:lvl9pPr>
              <a:defRPr sz="3225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3263E"/>
                </a:solidFill>
              </a:defRPr>
            </a:pPr>
            <a:r>
              <a:rPr sz="3225" b="1">
                <a:solidFill>
                  <a:srgbClr val="13263E"/>
                </a:solidFill>
              </a:rPr>
              <a:t>U003: alertas y dominio aparcado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FACEE-A1C8-44B8-A1DA-77224C93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96100"/>
                </a:solidFill>
              </a:defRPr>
            </a:defPPr>
            <a:lvl1pPr>
              <a:defRPr sz="1875" b="1">
                <a:solidFill>
                  <a:srgbClr val="996100"/>
                </a:solidFill>
              </a:defRPr>
            </a:lvl1pPr>
            <a:lvl2pPr>
              <a:defRPr sz="1875" b="1">
                <a:solidFill>
                  <a:srgbClr val="996100"/>
                </a:solidFill>
              </a:defRPr>
            </a:lvl2pPr>
            <a:lvl3pPr>
              <a:defRPr sz="1875" b="1">
                <a:solidFill>
                  <a:srgbClr val="996100"/>
                </a:solidFill>
              </a:defRPr>
            </a:lvl3pPr>
            <a:lvl4pPr>
              <a:defRPr sz="1875" b="1">
                <a:solidFill>
                  <a:srgbClr val="996100"/>
                </a:solidFill>
              </a:defRPr>
            </a:lvl4pPr>
            <a:lvl5pPr>
              <a:defRPr sz="1875" b="1">
                <a:solidFill>
                  <a:srgbClr val="996100"/>
                </a:solidFill>
              </a:defRPr>
            </a:lvl5pPr>
            <a:lvl6pPr>
              <a:defRPr sz="1875" b="1">
                <a:solidFill>
                  <a:srgbClr val="996100"/>
                </a:solidFill>
              </a:defRPr>
            </a:lvl6pPr>
            <a:lvl7pPr>
              <a:defRPr sz="1875" b="1">
                <a:solidFill>
                  <a:srgbClr val="996100"/>
                </a:solidFill>
              </a:defRPr>
            </a:lvl7pPr>
            <a:lvl8pPr>
              <a:defRPr sz="1875" b="1">
                <a:solidFill>
                  <a:srgbClr val="996100"/>
                </a:solidFill>
              </a:defRPr>
            </a:lvl8pPr>
            <a:lvl9pPr>
              <a:defRPr sz="1875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96100"/>
                </a:solidFill>
              </a:defRPr>
            </a:pPr>
            <a:r>
              <a:rPr sz="1875" b="1">
                <a:solidFill>
                  <a:srgbClr val="996100"/>
                </a:solidFill>
              </a:rPr>
              <a:t>SOSPECHOSO · confianza media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9765C-9168-4DF8-88F2-082FEF6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6 / 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71646-B007-4196-A6F1-BDF39DCDF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479e35d79448e"/>
          <a:stretch xmlns:a="http://schemas.openxmlformats.org/drawingml/2006/main"/>
        </p:blipFill>
        <p:spPr>
          <a:xfrm xmlns:a="http://schemas.openxmlformats.org/drawingml/2006/main">
            <a:off x="658813" y="171450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F0297-312C-41A1-BE8B-255177E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996100"/>
                </a:solidFill>
              </a:defRPr>
            </a:defPPr>
            <a:lvl1pPr>
              <a:defRPr sz="2250" b="1">
                <a:solidFill>
                  <a:srgbClr val="996100"/>
                </a:solidFill>
              </a:defRPr>
            </a:lvl1pPr>
            <a:lvl2pPr>
              <a:defRPr sz="2250" b="1">
                <a:solidFill>
                  <a:srgbClr val="996100"/>
                </a:solidFill>
              </a:defRPr>
            </a:lvl2pPr>
            <a:lvl3pPr>
              <a:defRPr sz="2250" b="1">
                <a:solidFill>
                  <a:srgbClr val="996100"/>
                </a:solidFill>
              </a:defRPr>
            </a:lvl3pPr>
            <a:lvl4pPr>
              <a:defRPr sz="2250" b="1">
                <a:solidFill>
                  <a:srgbClr val="996100"/>
                </a:solidFill>
              </a:defRPr>
            </a:lvl4pPr>
            <a:lvl5pPr>
              <a:defRPr sz="2250" b="1">
                <a:solidFill>
                  <a:srgbClr val="996100"/>
                </a:solidFill>
              </a:defRPr>
            </a:lvl5pPr>
            <a:lvl6pPr>
              <a:defRPr sz="2250" b="1">
                <a:solidFill>
                  <a:srgbClr val="996100"/>
                </a:solidFill>
              </a:defRPr>
            </a:lvl6pPr>
            <a:lvl7pPr>
              <a:defRPr sz="2250" b="1">
                <a:solidFill>
                  <a:srgbClr val="996100"/>
                </a:solidFill>
              </a:defRPr>
            </a:lvl7pPr>
            <a:lvl8pPr>
              <a:defRPr sz="2250" b="1">
                <a:solidFill>
                  <a:srgbClr val="996100"/>
                </a:solidFill>
              </a:defRPr>
            </a:lvl8pPr>
            <a:lvl9pPr>
              <a:defRPr sz="2250" b="1">
                <a:solidFill>
                  <a:srgbClr val="99610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96100"/>
                </a:solidFill>
              </a:defRPr>
            </a:pPr>
            <a:r>
              <a:rPr sz="2250" b="1">
                <a:solidFill>
                  <a:srgbClr val="996100"/>
                </a:solidFill>
              </a:rPr>
              <a:t>URL: 1 malicioso</a:t>
            </a:r>
          </a:p>
          <a:p xmlns:a="http://schemas.openxmlformats.org/drawingml/2006/main">
            <a:pPr>
              <a:defRPr sz="2250" b="1">
                <a:solidFill>
                  <a:srgbClr val="996100"/>
                </a:solidFill>
              </a:defRPr>
            </a:pPr>
            <a:r>
              <a:rPr sz="2250" b="1">
                <a:solidFill>
                  <a:srgbClr val="996100"/>
                </a:solidFill>
              </a:rPr>
              <a:t>Dominio: 6 + 2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578C4-0564-4C31-B949-61FB6EA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63E"/>
                </a:solidFill>
              </a:defRPr>
            </a:defPPr>
            <a:lvl1pPr>
              <a:defRPr sz="1950" b="0">
                <a:solidFill>
                  <a:srgbClr val="13263E"/>
                </a:solidFill>
              </a:defRPr>
            </a:lvl1pPr>
            <a:lvl2pPr>
              <a:defRPr sz="1950" b="0">
                <a:solidFill>
                  <a:srgbClr val="13263E"/>
                </a:solidFill>
              </a:defRPr>
            </a:lvl2pPr>
            <a:lvl3pPr>
              <a:defRPr sz="1950" b="0">
                <a:solidFill>
                  <a:srgbClr val="13263E"/>
                </a:solidFill>
              </a:defRPr>
            </a:lvl3pPr>
            <a:lvl4pPr>
              <a:defRPr sz="1950" b="0">
                <a:solidFill>
                  <a:srgbClr val="13263E"/>
                </a:solidFill>
              </a:defRPr>
            </a:lvl4pPr>
            <a:lvl5pPr>
              <a:defRPr sz="1950" b="0">
                <a:solidFill>
                  <a:srgbClr val="13263E"/>
                </a:solidFill>
              </a:defRPr>
            </a:lvl5pPr>
            <a:lvl6pPr>
              <a:defRPr sz="1950" b="0">
                <a:solidFill>
                  <a:srgbClr val="13263E"/>
                </a:solidFill>
              </a:defRPr>
            </a:lvl6pPr>
            <a:lvl7pPr>
              <a:defRPr sz="1950" b="0">
                <a:solidFill>
                  <a:srgbClr val="13263E"/>
                </a:solidFill>
              </a:defRPr>
            </a:lvl7pPr>
            <a:lvl8pPr>
              <a:defRPr sz="1950" b="0">
                <a:solidFill>
                  <a:srgbClr val="13263E"/>
                </a:solidFill>
              </a:defRPr>
            </a:lvl8pPr>
            <a:lvl9pPr>
              <a:defRPr sz="1950" b="0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Página aparcada con HTTP 404 en el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Sin tienda fraudulenta ni formulario acreditados.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3263E"/>
                </a:solidFill>
              </a:defRPr>
            </a:pPr>
            <a:r>
              <a:rPr sz="1950" b="0">
                <a:solidFill>
                  <a:srgbClr val="13263E"/>
                </a:solidFill>
              </a:rPr>
              <a:t>Amenaza posible: engaño por apariencia de dominio.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A3246-B985-4711-AB9B-B9275AE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263E"/>
                </a:solidFill>
              </a:defRPr>
            </a:defPPr>
            <a:lvl1pPr>
              <a:defRPr sz="2100" b="1">
                <a:solidFill>
                  <a:srgbClr val="13263E"/>
                </a:solidFill>
              </a:defRPr>
            </a:lvl1pPr>
            <a:lvl2pPr>
              <a:defRPr sz="2100" b="1">
                <a:solidFill>
                  <a:srgbClr val="13263E"/>
                </a:solidFill>
              </a:defRPr>
            </a:lvl2pPr>
            <a:lvl3pPr>
              <a:defRPr sz="2100" b="1">
                <a:solidFill>
                  <a:srgbClr val="13263E"/>
                </a:solidFill>
              </a:defRPr>
            </a:lvl3pPr>
            <a:lvl4pPr>
              <a:defRPr sz="2100" b="1">
                <a:solidFill>
                  <a:srgbClr val="13263E"/>
                </a:solidFill>
              </a:defRPr>
            </a:lvl4pPr>
            <a:lvl5pPr>
              <a:defRPr sz="2100" b="1">
                <a:solidFill>
                  <a:srgbClr val="13263E"/>
                </a:solidFill>
              </a:defRPr>
            </a:lvl5pPr>
            <a:lvl6pPr>
              <a:defRPr sz="2100" b="1">
                <a:solidFill>
                  <a:srgbClr val="13263E"/>
                </a:solidFill>
              </a:defRPr>
            </a:lvl6pPr>
            <a:lvl7pPr>
              <a:defRPr sz="2100" b="1">
                <a:solidFill>
                  <a:srgbClr val="13263E"/>
                </a:solidFill>
              </a:defRPr>
            </a:lvl7pPr>
            <a:lvl8pPr>
              <a:defRPr sz="2100" b="1">
                <a:solidFill>
                  <a:srgbClr val="13263E"/>
                </a:solidFill>
              </a:defRPr>
            </a:lvl8pPr>
            <a:lvl9pPr>
              <a:defRPr sz="2100" b="1">
                <a:solidFill>
                  <a:srgbClr val="13263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63E"/>
                </a:solidFill>
              </a:defRPr>
            </a:pPr>
            <a:r>
              <a:rPr sz="2100" b="1">
                <a:solidFill>
                  <a:srgbClr val="13263E"/>
                </a:solidFill>
              </a:rPr>
              <a:t>Resultado del set: 4 maliciosos · 3 sospechosos · ninguna muestra ejecutada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83699-D35E-438F-9D87-F540AC4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27A"/>
                </a:solidFill>
              </a:defRPr>
            </a:defPPr>
            <a:lvl1pPr>
              <a:defRPr sz="1200" b="0">
                <a:solidFill>
                  <a:srgbClr val="51627A"/>
                </a:solidFill>
              </a:defRPr>
            </a:lvl1pPr>
            <a:lvl2pPr>
              <a:defRPr sz="1200" b="0">
                <a:solidFill>
                  <a:srgbClr val="51627A"/>
                </a:solidFill>
              </a:defRPr>
            </a:lvl2pPr>
            <a:lvl3pPr>
              <a:defRPr sz="1200" b="0">
                <a:solidFill>
                  <a:srgbClr val="51627A"/>
                </a:solidFill>
              </a:defRPr>
            </a:lvl3pPr>
            <a:lvl4pPr>
              <a:defRPr sz="1200" b="0">
                <a:solidFill>
                  <a:srgbClr val="51627A"/>
                </a:solidFill>
              </a:defRPr>
            </a:lvl4pPr>
            <a:lvl5pPr>
              <a:defRPr sz="1200" b="0">
                <a:solidFill>
                  <a:srgbClr val="51627A"/>
                </a:solidFill>
              </a:defRPr>
            </a:lvl5pPr>
            <a:lvl6pPr>
              <a:defRPr sz="1200" b="0">
                <a:solidFill>
                  <a:srgbClr val="51627A"/>
                </a:solidFill>
              </a:defRPr>
            </a:lvl6pPr>
            <a:lvl7pPr>
              <a:defRPr sz="1200" b="0">
                <a:solidFill>
                  <a:srgbClr val="51627A"/>
                </a:solidFill>
              </a:defRPr>
            </a:lvl7pPr>
            <a:lvl8pPr>
              <a:defRPr sz="1200" b="0">
                <a:solidFill>
                  <a:srgbClr val="51627A"/>
                </a:solidFill>
              </a:defRPr>
            </a:lvl8pPr>
            <a:lvl9pPr>
              <a:defRPr sz="1200" b="0">
                <a:solidFill>
                  <a:srgbClr val="51627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27A"/>
                </a:solidFill>
              </a:defRPr>
            </a:pPr>
            <a:r>
              <a:rPr sz="1200" b="0">
                <a:solidFill>
                  <a:srgbClr val="51627A"/>
                </a:solidFill>
              </a:rPr>
              <a:t>urlscan · Histórico del 16/10/2026. www[.]pneustorebr[.]cfd · “Sin detección” no significa limpio.</a:t>
            </a:r>
          </a:p>
        </p:txBody>
      </p:sp>
    </p:spTree>
    <p:extLst>
      <p:ext uri="{BB962C8B-B14F-4D97-AF65-F5344CB8AC3E}">
        <p14:creationId xmlns:p14="http://schemas.microsoft.com/office/powerpoint/2010/main" val="1076365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2026-10-23T19:19:01.7260000Z</dcterms:created>
  <dcterms:modified xsi:type="dcterms:W3CDTF">2026-10-23T19:19:01.7260000Z</dcterms:modified>
</coreProperties>
</file>