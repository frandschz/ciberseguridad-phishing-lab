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194343472347a6" /><Relationship Type="http://schemas.openxmlformats.org/officeDocument/2006/relationships/extended-properties" Target="/docProps/app.xml" Id="R4f8d54850fb64baa" /><Relationship Type="http://schemas.openxmlformats.org/officeDocument/2006/relationships/officeDocument" Target="/ppt/presentation.xml" Id="R9cd7b8f2844545f9" /></Relationships>
</file>

<file path=ppt/presentation.xml><?xml version="1.0" encoding="utf-8"?>
<p:presentation xmlns:p="http://schemas.openxmlformats.org/presentationml/2006/main">
  <p:sldMasterIdLst>
    <p:sldMasterId xmlns:r="http://schemas.openxmlformats.org/officeDocument/2006/relationships" id="2147483648" r:id="R411a77d6186e45f6"/>
  </p:sldMasterIdLst>
  <p:notesMasterIdLst>
    <p:notesMasterId xmlns:r="http://schemas.openxmlformats.org/officeDocument/2006/relationships" r:id="Rcf14ae43176c41fa"/>
  </p:notesMasterIdLst>
  <p:sldIdLst>
    <p:sldId xmlns:r="http://schemas.openxmlformats.org/officeDocument/2006/relationships" id="256" r:id="R4a080ef3a0ad4f56"/>
    <p:sldId xmlns:r="http://schemas.openxmlformats.org/officeDocument/2006/relationships" id="257" r:id="R2f2bb1d6a2524126"/>
    <p:sldId xmlns:r="http://schemas.openxmlformats.org/officeDocument/2006/relationships" id="258" r:id="R559f313cbcd045ed"/>
    <p:sldId xmlns:r="http://schemas.openxmlformats.org/officeDocument/2006/relationships" id="259" r:id="Ra7ff5e58ac1f4fd3"/>
    <p:sldId xmlns:r="http://schemas.openxmlformats.org/officeDocument/2006/relationships" id="260" r:id="Rd336e4410c0c40ff"/>
    <p:sldId xmlns:r="http://schemas.openxmlformats.org/officeDocument/2006/relationships" id="261" r:id="Rec6551ebd6cb48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e927fef47b41d1" /><Relationship Type="http://schemas.openxmlformats.org/officeDocument/2006/relationships/slideMaster" Target="/ppt/slideMasters/slideMaster1.xml" Id="R411a77d6186e45f6" /><Relationship Type="http://schemas.openxmlformats.org/officeDocument/2006/relationships/notesMaster" Target="/ppt/notesMasters/notesMaster1.xml" Id="Rcf14ae43176c41fa" /><Relationship Type="http://schemas.openxmlformats.org/officeDocument/2006/relationships/presProps" Target="/ppt/presProps.xml" Id="Rbdcb5c5de9934e7b" /><Relationship Type="http://schemas.openxmlformats.org/officeDocument/2006/relationships/tableStyles" Target="/ppt/tableStyles.xml" Id="R97131eede03c4b9a" /><Relationship Type="http://schemas.openxmlformats.org/officeDocument/2006/relationships/slide" Target="/ppt/slides/slide1.xml" Id="R4a080ef3a0ad4f56" /><Relationship Type="http://schemas.openxmlformats.org/officeDocument/2006/relationships/slide" Target="/ppt/slides/slide2.xml" Id="R2f2bb1d6a2524126" /><Relationship Type="http://schemas.openxmlformats.org/officeDocument/2006/relationships/slide" Target="/ppt/slides/slide3.xml" Id="R559f313cbcd045ed" /><Relationship Type="http://schemas.openxmlformats.org/officeDocument/2006/relationships/slide" Target="/ppt/slides/slide4.xml" Id="Ra7ff5e58ac1f4fd3" /><Relationship Type="http://schemas.openxmlformats.org/officeDocument/2006/relationships/slide" Target="/ppt/slides/slide5.xml" Id="Rd336e4410c0c40ff" /><Relationship Type="http://schemas.openxmlformats.org/officeDocument/2006/relationships/slide" Target="/ppt/slides/slide6.xml" Id="Rec6551ebd6cb48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e9bf0f7d8c4a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ato"/>
        <a:ea typeface=""/>
        <a:cs typeface=""/>
      </a:majorFont>
      <a:minorFont>
        <a:latin typeface="Lat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d37b7e7f9b4f08" /><Relationship Type="http://schemas.openxmlformats.org/officeDocument/2006/relationships/notesMaster" Target="/ppt/notesMasters/notesMaster1.xml" Id="R930ffcafdb6c46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a7318583834846" /><Relationship Type="http://schemas.openxmlformats.org/officeDocument/2006/relationships/notesMaster" Target="/ppt/notesMasters/notesMaster1.xml" Id="R4ce5b427797b45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7858e36ba44cac" /><Relationship Type="http://schemas.openxmlformats.org/officeDocument/2006/relationships/notesMaster" Target="/ppt/notesMasters/notesMaster1.xml" Id="R3b073fde38ab42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11b8c6b29e4751" /><Relationship Type="http://schemas.openxmlformats.org/officeDocument/2006/relationships/notesMaster" Target="/ppt/notesMasters/notesMaster1.xml" Id="R687deb6f67864e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ccb30e69c24ce6" /><Relationship Type="http://schemas.openxmlformats.org/officeDocument/2006/relationships/notesMaster" Target="/ppt/notesMasters/notesMaster1.xml" Id="R98b4f0f1926e49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e7b76e071547ee" /><Relationship Type="http://schemas.openxmlformats.org/officeDocument/2006/relationships/notesMaster" Target="/ppt/notesMasters/notesMaster1.xml" Id="R2814f2be63f546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0:00–1:30 (90 s). Propuesta: Benetucci Ignacio. Introducción (15 s): siete recursos, análisis estático, nunca ejecutamos muestras. F001 es una DLL aunque el nombre histórico termine en .exe; F002 es un ejecutable. Verificamos SHA-256, SHA-1, MD5 y tamaño contra VT: 47 detecciones cada uno. RAT significa troyano de acceso remoto; un atacante podría acceder a información o alterar el equipo, pero no observamos esas acciones. ValleyRAT viene de motores y reportes de terceros. Conclusión: maliciosos con confianza alta en reputación, sin afirmar infección. Fuentes: capturas/F001-virustotal-detecciones.jpg; capturas/F002-virustotal-detecciones.jpg; archivos-reputacion.json. https://www.virustotal.com/gui/file/6f9f663f832a06474913ec6bb0f94e3cca6e0658396a68053ff36abedbb050ba y https://www.virustotal.com/gui/file/06af7db1507c685154f7a291c862b0bfe5649c989de4e7acbeff23fd3252e4ec Medida: conservar aislado y bloquear hashes confirmados. Confidencialidad e integridad en riesgo potencial, sin infección acreditada.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1:30–2:50 (80 s). Propuesta: Maurel Garcete Philippe. R004 anuncia un producto para aliviar dolor de rodilla. Tiene cero adjuntos, dos enlaces acortados y un píxel remoto de seguimiento. La URL exacta de pnreap.com registra 12 motores maliciosos y uno sospechoso en VirusTotal. Por eso clasificamos el mensaje como malicioso por el contenido remoto que incorpora, con confianza media. Las cabeceras declaran SPF y DMARC pass; autenticar el dominio no prueba que el contenido sea seguro. No afirmamos robo de credenciales ni infección. No cargamos el píxel. Fuente: capturas/R004-pnreap-verificado.jpg; cierre/R004-pnreap-verificacion.json; correos-html-resumen.json. https://www.virustotal.com/gui/url/b5964327810a7c813ae6a17ec150228e0f3c1bc77fa5dba775f7eaae5eda674d Medida: evitar carga remota de imágenes y filtrar mensajes similares.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2:50–3:55 (65 s). Propuesta: Maurel Garcete Philippe. El mensaje ofrece bolas de Plinko y premios. El contenido tiene tres enlaces de acción y un píxel en woondsplay.com. El dominio registra siete motores maliciosos y dos sospechosos. Las URLs exactas consultadas no aportan un informe concluyente: no trasladamos automáticamente la clasificación del dominio al mensaje. Las cabeceras declaran SPF none, DMARC none y una firma DKIM cuyo dominio no está alineado con From. None no significa fail. Amenaza posible: spam o engaño mediante enlaces; no hay un malware adjunto identificado. Conclusión: sospechoso, confianza media. Fuentes: capturas/R005-dominio-enlaces-virustotal.jpg, correos-estaticos.json, correos-html-resumen.json. https://www.virustotal.com/gui/domain/woondsplay.com Medida: reportar como sospechoso y evitar enlaces. Posible seguimiento; integridad y disponibilidad sin efecto observado.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3:55–5:00 (65 s). Propuesta: Rodas Sebastián. URL g-comeceseuatendimenton.shop. El reporte exacto de urlscan del 16 de octubre muestra una página de orientación financiera sobre CPF, con cuenta regresiva y llamada a la acción. Hay un enlace saliente a feiraoaberto.netlify.app/login/; no lo seguimos ni lo describimos como redirección automática. VT tiene dos alertas. urlscan ofrece señales contradictorias: el motor ML alerta pero el veredicto global no confirma malicia. Riesgo posible de ingeniería social; no se observó formulario de credenciales. Conclusión: sospechoso. Fuente: capturas/U001-urlscan-imagen-archivada.jpg y U001-virustotal-url.jpg; urls/20261023T180740Z/U001.json. https://urlscan.io/result/01a1462b-bbda-773d-a9b2-fa0511ed4b52/ Medida: verificar por canal oficial independiente. Confidencialidad en riesgo potencial; sin impacto demostrado en integridad y disponibilidad.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5:00–6:50 (110 s). Propuesta: Sánchez Franco. Este caso conecta dos herramientas. En urlscan, mostrar el registro de descarga: ELF de 32 bits para MIPS, 137480 bytes. No es un script aunque la ruta termine en .sh. Copiar solo el hash visible y mostrar el informe ya existente de VT: mismo SHA-256 y tamaño, 50 motores maliciosos. Reservar 35 segundos para la demostración. Dejar abiertos antes de exponer los informes de urlscan y VirusTotal, accesibles desde los rótulos de esta diapositiva. En urlscan mostrar Downloads y su SHA-256; en VirusTotal mostrar el mismo hash y 50 detecciones. Si falla Internet, las capturas permiten explicar el caso, aunque no reemplazan el requisito de mostrar dos herramientas en vivo. Nunca abrir el destino ni pulsar Reanalyze ni descargar el archivo. SHA-256 f6c97b1e2ed02578ca1066c8235ba4f991e645f89012406c639dbccc6582eec8. Motores etiquetan Mirai/Mozi, asociados a botnets y DDoS; es atribución de terceros, no comportamiento ejecutado por nosotros. Conclusión: malicioso con confianza alta en asociación histórica y reputación. Fuentes: capturas/U002-urlscan-descarga-detalle.jpg; U002-virustotal-hash-descarga.jpg. https://urlscan.io/result/01a1464c-f4e2-70ba-8c0c-131c9851a684/ y https://www.virustotal.com/gui/file/f6c97b1e2ed02578ca1066c8235ba4f991e645f89012406c639dbccc6582eec8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6:50–8:00 (70 s). Propuesta: Rodas Sebastián. La URL pneustorebr.cfd tiene una alerta y el dominio raíz seis maliciosas y dos sospechosas. La captura histórica muestra un dominio aparcado en Dynadot y HTTP 404, no una tienda ni un formulario. Otros informes de distinta fecha registran HTTP 200 y otra IP; no inventamos una causa. Riesgo posible de engaño por nombre, pero evidencia insuficiente para afirmar estafa efectiva. Conclusión: sospechoso. Cierre de 20 segundos: cuatro maliciosos, tres sospechosos, ninguno acreditado limpio; evidencia preservada, fuentes fechadas y ninguna muestra ejecutada. Las medidas son conservar aislado, reportar y bloquear indicadores confirmados según contexto. Fuente: U003-urlscan-imagen-archivada.jpg y U003-virustotal-dominio.jpg, U003.json. https://urlscan.io/result/01a1460d-11c6-71b9-9818-3caec90d10c7/ y https://www.virustotal.com/gui/domain/pneustorebr.cfd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bb1a86321342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b3415aed54a44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585351ee0844f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22426bbb70744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e07df893b174f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e185d2fc2154a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9135D1-1E15-45E6-9E34-C8C4944220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C23AA9-6DD4-42AF-A553-690EB4AAF5F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D9DABEB-5FE8-4B9C-95B2-CC3DAFAA40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A1DE6A-DD9D-4442-A480-DC1CDCFE02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BAD188D-2DDB-4B65-ADE8-C4A37FF13C2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C188EEB-EC48-4390-8E06-3832F42D09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AD6407-644E-4238-99F1-B0A092F6C6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849FB94-5B6A-4DD1-BB59-6928BF4BF7C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17B066-3C0E-47E7-900C-39863B335F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AE8B9D-1F89-433B-A4B5-5AFDAB189C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48fa9301f64b49" /><Relationship Type="http://schemas.openxmlformats.org/officeDocument/2006/relationships/slideLayout" Target="/ppt/slideLayouts/slideLayout1.xml" Id="Re4d8f6d444a248c6" /><Relationship Type="http://schemas.openxmlformats.org/officeDocument/2006/relationships/slideLayout" Target="/ppt/slideLayouts/slideLayout2.xml" Id="R5b78f6121dd74be7" /><Relationship Type="http://schemas.openxmlformats.org/officeDocument/2006/relationships/slideLayout" Target="/ppt/slideLayouts/slideLayout3.xml" Id="R38180dbe6a4d4fb3" /><Relationship Type="http://schemas.openxmlformats.org/officeDocument/2006/relationships/slideLayout" Target="/ppt/slideLayouts/slideLayout4.xml" Id="Rf342adcebe054220" /><Relationship Type="http://schemas.openxmlformats.org/officeDocument/2006/relationships/slideLayout" Target="/ppt/slideLayouts/slideLayout5.xml" Id="R9bc41c59ca324bae" /><Relationship Type="http://schemas.openxmlformats.org/officeDocument/2006/relationships/slideLayout" Target="/ppt/slideLayouts/slideLayout6.xml" Id="Rb26fbb0457414f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d8f6d444a248c6"/>
    <p:sldLayoutId xmlns:r="http://schemas.openxmlformats.org/officeDocument/2006/relationships" id="2147483650" r:id="R5b78f6121dd74be7"/>
    <p:sldLayoutId xmlns:r="http://schemas.openxmlformats.org/officeDocument/2006/relationships" id="2147483651" r:id="R38180dbe6a4d4fb3"/>
    <p:sldLayoutId xmlns:r="http://schemas.openxmlformats.org/officeDocument/2006/relationships" id="2147483652" r:id="Rf342adcebe054220"/>
    <p:sldLayoutId xmlns:r="http://schemas.openxmlformats.org/officeDocument/2006/relationships" id="2147483653" r:id="R9bc41c59ca324bae"/>
    <p:sldLayoutId xmlns:r="http://schemas.openxmlformats.org/officeDocument/2006/relationships" id="2147483654" r:id="Rb26fbb0457414f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ato"/>
        <a:ea typeface=""/>
        <a:cs typeface=""/>
      </a:majorFont>
      <a:minorFont>
        <a:latin typeface="Lat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Relationships xmlns="http://schemas.openxmlformats.org/package/2006/relationships"><Relationship Type="http://schemas.openxmlformats.org/officeDocument/2006/relationships/slideLayout" Target="/ppt/slideLayouts/slideLayout6.xml" Id="Rfc8af2969a9f41da"/><Relationship Type="http://schemas.openxmlformats.org/officeDocument/2006/relationships/image" Target="/ppt/media/image.jpeg" Id="R50cfd3af9efc4f0e"/><Relationship Type="http://schemas.openxmlformats.org/officeDocument/2006/relationships/image" Target="/ppt/media/image2.jpeg" Id="R2406e4b8608c45f6"/><Relationship Type="http://schemas.openxmlformats.org/officeDocument/2006/relationships/notesSlide" Target="/ppt/notesSlides/notesSlide1.xml" Id="R230cc3b660b64642"/><Relationship Id="rIdLink1" Type="http://schemas.openxmlformats.org/officeDocument/2006/relationships/hyperlink" Target="https://www.virustotal.com/gui/file/6f9f663f832a06474913ec6bb0f94e3cca6e0658396a68053ff36abedbb050ba" TargetMode="External"/><Relationship Id="rIdLink2" Type="http://schemas.openxmlformats.org/officeDocument/2006/relationships/hyperlink" Target="https://www.virustotal.com/gui/file/06af7db1507c685154f7a291c862b0bfe5649c989de4e7acbeff23fd3252e4ec" TargetMode="External"/></Relationships>
</file>

<file path=ppt/slides/_rels/slide2.xml.rels><?xml version='1.0' encoding='UTF-8'?>
<Relationships xmlns="http://schemas.openxmlformats.org/package/2006/relationships"><Relationship Type="http://schemas.openxmlformats.org/officeDocument/2006/relationships/slideLayout" Target="/ppt/slideLayouts/slideLayout6.xml" Id="R55d028f1e2424f07"/><Relationship Type="http://schemas.openxmlformats.org/officeDocument/2006/relationships/image" Target="/ppt/media/image3.jpeg" Id="R442274c221b8498d"/><Relationship Type="http://schemas.openxmlformats.org/officeDocument/2006/relationships/notesSlide" Target="/ppt/notesSlides/notesSlide2.xml" Id="R22ff695fd1e3472b"/><Relationship Id="rIdLink3" Type="http://schemas.openxmlformats.org/officeDocument/2006/relationships/hyperlink" Target="https://www.virustotal.com/gui/url/b5964327810a7c813ae6a17ec150228e0f3c1bc77fa5dba775f7eaae5eda674d" TargetMode="External"/></Relationships>
</file>

<file path=ppt/slides/_rels/slide3.xml.rels><?xml version='1.0' encoding='UTF-8'?>
<Relationships xmlns="http://schemas.openxmlformats.org/package/2006/relationships"><Relationship Type="http://schemas.openxmlformats.org/officeDocument/2006/relationships/slideLayout" Target="/ppt/slideLayouts/slideLayout6.xml" Id="Ra3a6bed166db40cb"/><Relationship Type="http://schemas.openxmlformats.org/officeDocument/2006/relationships/image" Target="/ppt/media/image4.jpeg" Id="R449eeb4dc4f443c9"/><Relationship Type="http://schemas.openxmlformats.org/officeDocument/2006/relationships/notesSlide" Target="/ppt/notesSlides/notesSlide3.xml" Id="Rd260d90654494a01"/><Relationship Id="rIdLink4" Type="http://schemas.openxmlformats.org/officeDocument/2006/relationships/hyperlink" Target="https://www.virustotal.com/gui/domain/woondsplay.com" TargetMode="External"/></Relationships>
</file>

<file path=ppt/slides/_rels/slide4.xml.rels><?xml version='1.0' encoding='UTF-8'?>
<Relationships xmlns="http://schemas.openxmlformats.org/package/2006/relationships"><Relationship Type="http://schemas.openxmlformats.org/officeDocument/2006/relationships/slideLayout" Target="/ppt/slideLayouts/slideLayout6.xml" Id="Rdb9ab764e8d5494d"/><Relationship Type="http://schemas.openxmlformats.org/officeDocument/2006/relationships/image" Target="/ppt/media/image5.jpeg" Id="R4f64ffa7a3844b0b"/><Relationship Type="http://schemas.openxmlformats.org/officeDocument/2006/relationships/notesSlide" Target="/ppt/notesSlides/notesSlide4.xml" Id="Rd6c743a06bc84fc4"/><Relationship Id="rIdLink5" Type="http://schemas.openxmlformats.org/officeDocument/2006/relationships/hyperlink" Target="https://www.virustotal.com/gui/url/d2490e0d14072a015be21f7fa3f2fec65fc4453074223475727eb1198aa4e0fe" TargetMode="External"/><Relationship Id="rIdLink6" Type="http://schemas.openxmlformats.org/officeDocument/2006/relationships/hyperlink" Target="https://urlscan.io/result/01a1462b-bbda-773d-a9b2-fa0511ed4b52/" TargetMode="External"/></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d222b734208d4e38"/><Relationship Type="http://schemas.openxmlformats.org/officeDocument/2006/relationships/image" Target="/ppt/media/image6.jpeg" Id="Rc407ae9630524861"/><Relationship Type="http://schemas.openxmlformats.org/officeDocument/2006/relationships/image" Target="/ppt/media/image7.jpeg" Id="R53da5734fdc64230"/><Relationship Type="http://schemas.openxmlformats.org/officeDocument/2006/relationships/notesSlide" Target="/ppt/notesSlides/notesSlide5.xml" Id="R8bbea627e0984df7"/><Relationship Id="rIdLink7" Type="http://schemas.openxmlformats.org/officeDocument/2006/relationships/hyperlink" Target="https://urlscan.io/result/01a1464c-f4e2-70ba-8c0c-131c9851a684/" TargetMode="External"/><Relationship Id="rIdLink8" Type="http://schemas.openxmlformats.org/officeDocument/2006/relationships/hyperlink" Target="https://www.virustotal.com/gui/file/f6c97b1e2ed02578ca1066c8235ba4f991e645f89012406c639dbccc6582eec8" TargetMode="External"/></Relationships>
</file>

<file path=ppt/slides/_rels/slide6.xml.rels><?xml version='1.0' encoding='UTF-8'?>
<Relationships xmlns="http://schemas.openxmlformats.org/package/2006/relationships"><Relationship Type="http://schemas.openxmlformats.org/officeDocument/2006/relationships/slideLayout" Target="/ppt/slideLayouts/slideLayout6.xml" Id="Rc26bce7f10dc47f0"/><Relationship Type="http://schemas.openxmlformats.org/officeDocument/2006/relationships/image" Target="/ppt/media/image8.jpeg" Id="Rb952315e47ff49a0"/><Relationship Type="http://schemas.openxmlformats.org/officeDocument/2006/relationships/notesSlide" Target="/ppt/notesSlides/notesSlide6.xml" Id="R0e075ba2f9eb4592"/><Relationship Id="rIdLink9" Type="http://schemas.openxmlformats.org/officeDocument/2006/relationships/hyperlink" Target="https://www.virustotal.com/gui/url/830e581ef5afdf890eeda034a2f8c8855700caede3d222765fc02423043b7c1f" TargetMode="External"/><Relationship Id="rIdLink10" Type="http://schemas.openxmlformats.org/officeDocument/2006/relationships/hyperlink" Target="https://www.virustotal.com/gui/domain/pneustorebr.cfd" TargetMode="External"/><Relationship Id="rIdLink11" Type="http://schemas.openxmlformats.org/officeDocument/2006/relationships/hyperlink" Target="https://www.virustotal.com/gui/domain/pneustorebr.cfd" TargetMode="External"/><Relationship Id="rIdLink12" Type="http://schemas.openxmlformats.org/officeDocument/2006/relationships/hyperlink" Target="https://urlscan.io/result/01a1460d-11c6-71b9-9818-3caec90d10c7/"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93158EA-CC4A-4C20-9FF5-2F59799E2136}"/>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59590D91-4B67-414A-AC1A-DA55F16E38EB}"/>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Binarios Windows: DLL y ejecutable</a:t>
            </a:r>
          </a:p>
        </p:txBody>
      </p:sp>
      <p:sp>
        <p:nvSpPr>
          <p:cNvPr id="4" name="">
            <a:extLst xmlns:a="http://schemas.openxmlformats.org/drawingml/2006/main">
              <a:ext uri="{FF2B5EF4-FFF2-40B4-BE49-F238E27FC236}">
                <a16:creationId xmlns:a16="http://schemas.microsoft.com/office/drawing/2014/main" id="{2E4D1A69-B080-4F2B-BEB9-A68A5CEFC0AC}"/>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51D29"/>
                </a:solidFill>
              </a:defRPr>
            </a:defPPr>
            <a:lvl1pPr>
              <a:defRPr sz="1875" b="1">
                <a:solidFill>
                  <a:srgbClr val="A51D29"/>
                </a:solidFill>
              </a:defRPr>
            </a:lvl1pPr>
            <a:lvl2pPr>
              <a:defRPr sz="1875" b="1">
                <a:solidFill>
                  <a:srgbClr val="A51D29"/>
                </a:solidFill>
              </a:defRPr>
            </a:lvl2pPr>
            <a:lvl3pPr>
              <a:defRPr sz="1875" b="1">
                <a:solidFill>
                  <a:srgbClr val="A51D29"/>
                </a:solidFill>
              </a:defRPr>
            </a:lvl3pPr>
            <a:lvl4pPr>
              <a:defRPr sz="1875" b="1">
                <a:solidFill>
                  <a:srgbClr val="A51D29"/>
                </a:solidFill>
              </a:defRPr>
            </a:lvl4pPr>
            <a:lvl5pPr>
              <a:defRPr sz="1875" b="1">
                <a:solidFill>
                  <a:srgbClr val="A51D29"/>
                </a:solidFill>
              </a:defRPr>
            </a:lvl5pPr>
            <a:lvl6pPr>
              <a:defRPr sz="1875" b="1">
                <a:solidFill>
                  <a:srgbClr val="A51D29"/>
                </a:solidFill>
              </a:defRPr>
            </a:lvl6pPr>
            <a:lvl7pPr>
              <a:defRPr sz="1875" b="1">
                <a:solidFill>
                  <a:srgbClr val="A51D29"/>
                </a:solidFill>
              </a:defRPr>
            </a:lvl7pPr>
            <a:lvl8pPr>
              <a:defRPr sz="1875" b="1">
                <a:solidFill>
                  <a:srgbClr val="A51D29"/>
                </a:solidFill>
              </a:defRPr>
            </a:lvl8pPr>
            <a:lvl9pPr>
              <a:defRPr sz="1875" b="1">
                <a:solidFill>
                  <a:srgbClr val="A51D29"/>
                </a:solidFill>
              </a:defRPr>
            </a:lvl9pPr>
          </a:lstStyle>
          <a:p xmlns:a="http://schemas.openxmlformats.org/drawingml/2006/main">
            <a:pPr>
              <a:defRPr sz="1875" b="1">
                <a:solidFill>
                  <a:srgbClr val="A51D29"/>
                </a:solidFill>
              </a:defRPr>
            </a:pPr>
            <a:r>
              <a:rPr sz="1875" b="1">
                <a:solidFill>
                  <a:srgbClr val="A51D29"/>
                </a:solidFill>
              </a:rPr>
              <a:t>MALICIOSO · confianza alta en reputación</a:t>
            </a:r>
          </a:p>
        </p:txBody>
      </p:sp>
      <p:sp>
        <p:nvSpPr>
          <p:cNvPr id="5" name="">
            <a:extLst xmlns:a="http://schemas.openxmlformats.org/drawingml/2006/main">
              <a:ext uri="{FF2B5EF4-FFF2-40B4-BE49-F238E27FC236}">
                <a16:creationId xmlns:a16="http://schemas.microsoft.com/office/drawing/2014/main" id="{FB092AFF-4145-4CAF-99AA-028E5DA3B452}"/>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1 / 6</a:t>
            </a:r>
          </a:p>
        </p:txBody>
      </p:sp>
      <p:pic>
        <p:nvPicPr>
          <p:cNvPr id="6" name="">
            <a:extLst xmlns:a="http://schemas.openxmlformats.org/drawingml/2006/main">
              <a:ext uri="{FF2B5EF4-FFF2-40B4-BE49-F238E27FC236}">
                <a16:creationId xmlns:a16="http://schemas.microsoft.com/office/drawing/2014/main" id="{CB519EEC-D8C5-4616-B001-A6932CED0438}"/>
              </a:ext>
            </a:extLst>
          </p:cNvPr>
          <p:cNvPicPr>
            <a:picLocks xmlns:a="http://schemas.openxmlformats.org/drawingml/2006/main" noChangeAspect="1"/>
          </p:cNvPicPr>
          <p:nvPr/>
        </p:nvPicPr>
        <p:blipFill>
          <a:blip xmlns:r="http://schemas.openxmlformats.org/officeDocument/2006/relationships" xmlns:a="http://schemas.openxmlformats.org/drawingml/2006/main" r:embed="R50cfd3af9efc4f0e"/>
          <a:stretch xmlns:a="http://schemas.openxmlformats.org/drawingml/2006/main"/>
        </p:blipFill>
        <p:spPr>
          <a:xfrm xmlns:a="http://schemas.openxmlformats.org/drawingml/2006/main">
            <a:off x="1199692" y="1714500"/>
            <a:ext cx="3839491" cy="309562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D43B2846-EBF4-409A-B271-290C738941E6}"/>
              </a:ext>
            </a:extLst>
          </p:cNvPr>
          <p:cNvPicPr>
            <a:picLocks xmlns:a="http://schemas.openxmlformats.org/drawingml/2006/main" noChangeAspect="1"/>
          </p:cNvPicPr>
          <p:nvPr/>
        </p:nvPicPr>
        <p:blipFill>
          <a:blip xmlns:r="http://schemas.openxmlformats.org/officeDocument/2006/relationships" xmlns:a="http://schemas.openxmlformats.org/drawingml/2006/main" r:embed="R2406e4b8608c45f6"/>
          <a:stretch xmlns:a="http://schemas.openxmlformats.org/drawingml/2006/main"/>
        </p:blipFill>
        <p:spPr>
          <a:xfrm xmlns:a="http://schemas.openxmlformats.org/drawingml/2006/main">
            <a:off x="6251149" y="1714500"/>
            <a:ext cx="5499952" cy="30956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8F12EB3-833A-44C9-A98D-D33F8F7EC7E5}"/>
              </a:ext>
            </a:extLst>
          </p:cNvPr>
          <p:cNvSpPr>
            <a:spLocks xmlns:a="http://schemas.openxmlformats.org/drawingml/2006/main" noGrp="1"/>
          </p:cNvSpPr>
          <p:nvPr/>
        </p:nvSpPr>
        <p:spPr>
          <a:xfrm xmlns:a="http://schemas.openxmlformats.org/drawingml/2006/main">
            <a:off x="381000" y="4895850"/>
            <a:ext cx="561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3263E"/>
                </a:solidFill>
              </a:defRPr>
            </a:defPPr>
            <a:lvl1pPr>
              <a:defRPr sz="1875" b="1">
                <a:solidFill>
                  <a:srgbClr val="13263E"/>
                </a:solidFill>
              </a:defRPr>
            </a:lvl1pPr>
            <a:lvl2pPr>
              <a:defRPr sz="1875" b="1">
                <a:solidFill>
                  <a:srgbClr val="13263E"/>
                </a:solidFill>
              </a:defRPr>
            </a:lvl2pPr>
            <a:lvl3pPr>
              <a:defRPr sz="1875" b="1">
                <a:solidFill>
                  <a:srgbClr val="13263E"/>
                </a:solidFill>
              </a:defRPr>
            </a:lvl3pPr>
            <a:lvl4pPr>
              <a:defRPr sz="1875" b="1">
                <a:solidFill>
                  <a:srgbClr val="13263E"/>
                </a:solidFill>
              </a:defRPr>
            </a:lvl4pPr>
            <a:lvl5pPr>
              <a:defRPr sz="1875" b="1">
                <a:solidFill>
                  <a:srgbClr val="13263E"/>
                </a:solidFill>
              </a:defRPr>
            </a:lvl5pPr>
            <a:lvl6pPr>
              <a:defRPr sz="1875" b="1">
                <a:solidFill>
                  <a:srgbClr val="13263E"/>
                </a:solidFill>
              </a:defRPr>
            </a:lvl6pPr>
            <a:lvl7pPr>
              <a:defRPr sz="1875" b="1">
                <a:solidFill>
                  <a:srgbClr val="13263E"/>
                </a:solidFill>
              </a:defRPr>
            </a:lvl7pPr>
            <a:lvl8pPr>
              <a:defRPr sz="1875" b="1">
                <a:solidFill>
                  <a:srgbClr val="13263E"/>
                </a:solidFill>
              </a:defRPr>
            </a:lvl8pPr>
            <a:lvl9pPr>
              <a:defRPr sz="1875" b="1">
                <a:solidFill>
                  <a:srgbClr val="13263E"/>
                </a:solidFill>
              </a:defRPr>
            </a:lvl9pPr>
          </a:lstStyle>
          <a:p xmlns:a="http://schemas.openxmlformats.org/drawingml/2006/main">
            <a:pPr>
              <a:defRPr sz="1875" b="1">
                <a:solidFill>
                  <a:srgbClr val="13263E"/>
                </a:solidFill>
              </a:defRPr>
            </a:pPr>
            <a:r>
              <a:rPr sz="1875" b="1" u="sng">
                <a:solidFill>
                  <a:srgbClr val="13263E"/>
                </a:solidFill>
                <a:hlinkClick xmlns:ns0="http://schemas.openxmlformats.org/officeDocument/2006/relationships" ns0:id="rIdLink1"/>
              </a:rPr>
              <a:t>F001 · DLL x64 · 47 detecciones</a:t>
            </a:r>
          </a:p>
        </p:txBody>
      </p:sp>
      <p:sp>
        <p:nvSpPr>
          <p:cNvPr id="9" name="">
            <a:extLst xmlns:a="http://schemas.openxmlformats.org/drawingml/2006/main">
              <a:ext uri="{FF2B5EF4-FFF2-40B4-BE49-F238E27FC236}">
                <a16:creationId xmlns:a16="http://schemas.microsoft.com/office/drawing/2014/main" id="{D6CA9AB3-90DE-4927-A851-C3A0B707D69E}"/>
              </a:ext>
            </a:extLst>
          </p:cNvPr>
          <p:cNvSpPr>
            <a:spLocks xmlns:a="http://schemas.openxmlformats.org/drawingml/2006/main" noGrp="1"/>
          </p:cNvSpPr>
          <p:nvPr/>
        </p:nvSpPr>
        <p:spPr>
          <a:xfrm xmlns:a="http://schemas.openxmlformats.org/drawingml/2006/main">
            <a:off x="6191250" y="4895850"/>
            <a:ext cx="561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3263E"/>
                </a:solidFill>
              </a:defRPr>
            </a:defPPr>
            <a:lvl1pPr>
              <a:defRPr sz="1875" b="1">
                <a:solidFill>
                  <a:srgbClr val="13263E"/>
                </a:solidFill>
              </a:defRPr>
            </a:lvl1pPr>
            <a:lvl2pPr>
              <a:defRPr sz="1875" b="1">
                <a:solidFill>
                  <a:srgbClr val="13263E"/>
                </a:solidFill>
              </a:defRPr>
            </a:lvl2pPr>
            <a:lvl3pPr>
              <a:defRPr sz="1875" b="1">
                <a:solidFill>
                  <a:srgbClr val="13263E"/>
                </a:solidFill>
              </a:defRPr>
            </a:lvl3pPr>
            <a:lvl4pPr>
              <a:defRPr sz="1875" b="1">
                <a:solidFill>
                  <a:srgbClr val="13263E"/>
                </a:solidFill>
              </a:defRPr>
            </a:lvl4pPr>
            <a:lvl5pPr>
              <a:defRPr sz="1875" b="1">
                <a:solidFill>
                  <a:srgbClr val="13263E"/>
                </a:solidFill>
              </a:defRPr>
            </a:lvl5pPr>
            <a:lvl6pPr>
              <a:defRPr sz="1875" b="1">
                <a:solidFill>
                  <a:srgbClr val="13263E"/>
                </a:solidFill>
              </a:defRPr>
            </a:lvl6pPr>
            <a:lvl7pPr>
              <a:defRPr sz="1875" b="1">
                <a:solidFill>
                  <a:srgbClr val="13263E"/>
                </a:solidFill>
              </a:defRPr>
            </a:lvl7pPr>
            <a:lvl8pPr>
              <a:defRPr sz="1875" b="1">
                <a:solidFill>
                  <a:srgbClr val="13263E"/>
                </a:solidFill>
              </a:defRPr>
            </a:lvl8pPr>
            <a:lvl9pPr>
              <a:defRPr sz="1875" b="1">
                <a:solidFill>
                  <a:srgbClr val="13263E"/>
                </a:solidFill>
              </a:defRPr>
            </a:lvl9pPr>
          </a:lstStyle>
          <a:p xmlns:a="http://schemas.openxmlformats.org/drawingml/2006/main">
            <a:pPr>
              <a:defRPr sz="1875" b="1">
                <a:solidFill>
                  <a:srgbClr val="13263E"/>
                </a:solidFill>
              </a:defRPr>
            </a:pPr>
            <a:r>
              <a:rPr sz="1875" b="1" u="sng">
                <a:solidFill>
                  <a:srgbClr val="13263E"/>
                </a:solidFill>
                <a:hlinkClick xmlns:ns1="http://schemas.openxmlformats.org/officeDocument/2006/relationships" ns1:id="rIdLink2"/>
              </a:rPr>
              <a:t>F002 · EXE x64 · 47 detecciones</a:t>
            </a:r>
          </a:p>
        </p:txBody>
      </p:sp>
      <p:sp>
        <p:nvSpPr>
          <p:cNvPr id="10" name="">
            <a:extLst xmlns:a="http://schemas.openxmlformats.org/drawingml/2006/main">
              <a:ext uri="{FF2B5EF4-FFF2-40B4-BE49-F238E27FC236}">
                <a16:creationId xmlns:a16="http://schemas.microsoft.com/office/drawing/2014/main" id="{78408218-75D6-48F9-A715-19470E12EE26}"/>
              </a:ext>
            </a:extLst>
          </p:cNvPr>
          <p:cNvSpPr>
            <a:spLocks xmlns:a="http://schemas.openxmlformats.org/drawingml/2006/main" noGrp="1"/>
          </p:cNvSpPr>
          <p:nvPr/>
        </p:nvSpPr>
        <p:spPr>
          <a:xfrm xmlns:a="http://schemas.openxmlformats.org/drawingml/2006/main">
            <a:off x="381000" y="5381625"/>
            <a:ext cx="1143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3263E"/>
                </a:solidFill>
              </a:defRPr>
            </a:defPPr>
            <a:lvl1pPr>
              <a:defRPr sz="2025" b="0">
                <a:solidFill>
                  <a:srgbClr val="13263E"/>
                </a:solidFill>
              </a:defRPr>
            </a:lvl1pPr>
            <a:lvl2pPr>
              <a:defRPr sz="2025" b="0">
                <a:solidFill>
                  <a:srgbClr val="13263E"/>
                </a:solidFill>
              </a:defRPr>
            </a:lvl2pPr>
            <a:lvl3pPr>
              <a:defRPr sz="2025" b="0">
                <a:solidFill>
                  <a:srgbClr val="13263E"/>
                </a:solidFill>
              </a:defRPr>
            </a:lvl3pPr>
            <a:lvl4pPr>
              <a:defRPr sz="2025" b="0">
                <a:solidFill>
                  <a:srgbClr val="13263E"/>
                </a:solidFill>
              </a:defRPr>
            </a:lvl4pPr>
            <a:lvl5pPr>
              <a:defRPr sz="2025" b="0">
                <a:solidFill>
                  <a:srgbClr val="13263E"/>
                </a:solidFill>
              </a:defRPr>
            </a:lvl5pPr>
            <a:lvl6pPr>
              <a:defRPr sz="2025" b="0">
                <a:solidFill>
                  <a:srgbClr val="13263E"/>
                </a:solidFill>
              </a:defRPr>
            </a:lvl6pPr>
            <a:lvl7pPr>
              <a:defRPr sz="2025" b="0">
                <a:solidFill>
                  <a:srgbClr val="13263E"/>
                </a:solidFill>
              </a:defRPr>
            </a:lvl7pPr>
            <a:lvl8pPr>
              <a:defRPr sz="2025" b="0">
                <a:solidFill>
                  <a:srgbClr val="13263E"/>
                </a:solidFill>
              </a:defRPr>
            </a:lvl8pPr>
            <a:lvl9pPr>
              <a:defRPr sz="2025" b="0">
                <a:solidFill>
                  <a:srgbClr val="13263E"/>
                </a:solidFill>
              </a:defRPr>
            </a:lvl9pPr>
          </a:lstStyle>
          <a:p xmlns:a="http://schemas.openxmlformats.org/drawingml/2006/main">
            <a:pPr>
              <a:defRPr sz="2025" b="0">
                <a:solidFill>
                  <a:srgbClr val="13263E"/>
                </a:solidFill>
              </a:defRPr>
            </a:pPr>
            <a:r>
              <a:rPr sz="2025" b="0">
                <a:solidFill>
                  <a:srgbClr val="13263E"/>
                </a:solidFill>
              </a:rPr>
              <a:t>Los hashes y tamaños coinciden con los informes.</a:t>
            </a:r>
          </a:p>
          <a:p xmlns:a="http://schemas.openxmlformats.org/drawingml/2006/main">
            <a:pPr>
              <a:defRPr sz="2025" b="0">
                <a:solidFill>
                  <a:srgbClr val="13263E"/>
                </a:solidFill>
              </a:defRPr>
            </a:pPr>
            <a:r>
              <a:rPr sz="2025" b="0">
                <a:solidFill>
                  <a:srgbClr val="13263E"/>
                </a:solidFill>
              </a:rPr>
              <a:t>Troyano / acceso remoto; ValleyRAT es una atribución de terceros.</a:t>
            </a:r>
          </a:p>
        </p:txBody>
      </p:sp>
      <p:sp>
        <p:nvSpPr>
          <p:cNvPr id="11" name="">
            <a:extLst xmlns:a="http://schemas.openxmlformats.org/drawingml/2006/main">
              <a:ext uri="{FF2B5EF4-FFF2-40B4-BE49-F238E27FC236}">
                <a16:creationId xmlns:a16="http://schemas.microsoft.com/office/drawing/2014/main" id="{FE45D9C2-7BB4-4BDA-9EEF-1AEAF329AECD}"/>
              </a:ext>
            </a:extLst>
          </p:cNvPr>
          <p:cNvSpPr>
            <a:spLocks xmlns:a="http://schemas.openxmlformats.org/drawingml/2006/main" noGrp="1"/>
          </p:cNvSpPr>
          <p:nvPr/>
        </p:nvSpPr>
        <p:spPr>
          <a:xfrm xmlns:a="http://schemas.openxmlformats.org/drawingml/2006/main">
            <a:off x="381000" y="6429375"/>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VirusTotal: informes existentes. Capturas: 23/10/2026. Ninguna muestra fue ejecutada.</a:t>
            </a:r>
          </a:p>
        </p:txBody>
      </p:sp>
    </p:spTree>
    <p:extLst>
      <p:ext uri="{BB962C8B-B14F-4D97-AF65-F5344CB8AC3E}">
        <p14:creationId xmlns:p14="http://schemas.microsoft.com/office/powerpoint/2010/main" val="4829903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0D252D5-3DA5-4D7F-9833-2BDA0EC7250A}"/>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7B870F45-0DA9-49E9-9C01-5146EDE6FE66}"/>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Correo R004: recurso remoto malicioso</a:t>
            </a:r>
          </a:p>
        </p:txBody>
      </p:sp>
      <p:sp>
        <p:nvSpPr>
          <p:cNvPr id="4" name="">
            <a:extLst xmlns:a="http://schemas.openxmlformats.org/drawingml/2006/main">
              <a:ext uri="{FF2B5EF4-FFF2-40B4-BE49-F238E27FC236}">
                <a16:creationId xmlns:a16="http://schemas.microsoft.com/office/drawing/2014/main" id="{464D81F7-6D17-4D76-89DA-0C758207AED2}"/>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51D29"/>
                </a:solidFill>
              </a:defRPr>
            </a:defPPr>
            <a:lvl1pPr>
              <a:defRPr sz="1875" b="1">
                <a:solidFill>
                  <a:srgbClr val="A51D29"/>
                </a:solidFill>
              </a:defRPr>
            </a:lvl1pPr>
            <a:lvl2pPr>
              <a:defRPr sz="1875" b="1">
                <a:solidFill>
                  <a:srgbClr val="A51D29"/>
                </a:solidFill>
              </a:defRPr>
            </a:lvl2pPr>
            <a:lvl3pPr>
              <a:defRPr sz="1875" b="1">
                <a:solidFill>
                  <a:srgbClr val="A51D29"/>
                </a:solidFill>
              </a:defRPr>
            </a:lvl3pPr>
            <a:lvl4pPr>
              <a:defRPr sz="1875" b="1">
                <a:solidFill>
                  <a:srgbClr val="A51D29"/>
                </a:solidFill>
              </a:defRPr>
            </a:lvl4pPr>
            <a:lvl5pPr>
              <a:defRPr sz="1875" b="1">
                <a:solidFill>
                  <a:srgbClr val="A51D29"/>
                </a:solidFill>
              </a:defRPr>
            </a:lvl5pPr>
            <a:lvl6pPr>
              <a:defRPr sz="1875" b="1">
                <a:solidFill>
                  <a:srgbClr val="A51D29"/>
                </a:solidFill>
              </a:defRPr>
            </a:lvl6pPr>
            <a:lvl7pPr>
              <a:defRPr sz="1875" b="1">
                <a:solidFill>
                  <a:srgbClr val="A51D29"/>
                </a:solidFill>
              </a:defRPr>
            </a:lvl7pPr>
            <a:lvl8pPr>
              <a:defRPr sz="1875" b="1">
                <a:solidFill>
                  <a:srgbClr val="A51D29"/>
                </a:solidFill>
              </a:defRPr>
            </a:lvl8pPr>
            <a:lvl9pPr>
              <a:defRPr sz="1875" b="1">
                <a:solidFill>
                  <a:srgbClr val="A51D29"/>
                </a:solidFill>
              </a:defRPr>
            </a:lvl9pPr>
          </a:lstStyle>
          <a:p xmlns:a="http://schemas.openxmlformats.org/drawingml/2006/main">
            <a:pPr>
              <a:defRPr sz="1875" b="1">
                <a:solidFill>
                  <a:srgbClr val="A51D29"/>
                </a:solidFill>
              </a:defRPr>
            </a:pPr>
            <a:r>
              <a:rPr sz="1875" b="1">
                <a:solidFill>
                  <a:srgbClr val="A51D29"/>
                </a:solidFill>
              </a:rPr>
              <a:t>MALICIOSO · confianza media</a:t>
            </a:r>
          </a:p>
        </p:txBody>
      </p:sp>
      <p:sp>
        <p:nvSpPr>
          <p:cNvPr id="5" name="">
            <a:extLst xmlns:a="http://schemas.openxmlformats.org/drawingml/2006/main">
              <a:ext uri="{FF2B5EF4-FFF2-40B4-BE49-F238E27FC236}">
                <a16:creationId xmlns:a16="http://schemas.microsoft.com/office/drawing/2014/main" id="{EC8A7E04-D8B9-41F2-9003-773F77C0E623}"/>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2 / 6</a:t>
            </a:r>
          </a:p>
        </p:txBody>
      </p:sp>
      <p:pic>
        <p:nvPicPr>
          <p:cNvPr id="6" name="">
            <a:extLst xmlns:a="http://schemas.openxmlformats.org/drawingml/2006/main">
              <a:ext uri="{FF2B5EF4-FFF2-40B4-BE49-F238E27FC236}">
                <a16:creationId xmlns:a16="http://schemas.microsoft.com/office/drawing/2014/main" id="{C8860F10-C04A-4375-BB35-AE6361068945}"/>
              </a:ext>
            </a:extLst>
          </p:cNvPr>
          <p:cNvPicPr>
            <a:picLocks xmlns:a="http://schemas.openxmlformats.org/drawingml/2006/main" noChangeAspect="1"/>
          </p:cNvPicPr>
          <p:nvPr/>
        </p:nvPicPr>
        <p:blipFill>
          <a:blip xmlns:r="http://schemas.openxmlformats.org/officeDocument/2006/relationships" xmlns:a="http://schemas.openxmlformats.org/drawingml/2006/main" r:embed="R442274c221b8498d"/>
          <a:stretch xmlns:a="http://schemas.openxmlformats.org/drawingml/2006/main"/>
        </p:blipFill>
        <p:spPr>
          <a:xfrm xmlns:a="http://schemas.openxmlformats.org/drawingml/2006/main">
            <a:off x="381769" y="1714500"/>
            <a:ext cx="7666087" cy="43148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74C9B7C-13B5-4AE3-9E3D-BF255876AFE0}"/>
              </a:ext>
            </a:extLst>
          </p:cNvPr>
          <p:cNvSpPr>
            <a:spLocks xmlns:a="http://schemas.openxmlformats.org/drawingml/2006/main" noGrp="1"/>
          </p:cNvSpPr>
          <p:nvPr/>
        </p:nvSpPr>
        <p:spPr>
          <a:xfrm xmlns:a="http://schemas.openxmlformats.org/drawingml/2006/main">
            <a:off x="8382000" y="19240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A51D29"/>
                </a:solidFill>
              </a:defRPr>
            </a:defPPr>
            <a:lvl1pPr>
              <a:defRPr sz="2550" b="1">
                <a:solidFill>
                  <a:srgbClr val="A51D29"/>
                </a:solidFill>
              </a:defRPr>
            </a:lvl1pPr>
            <a:lvl2pPr>
              <a:defRPr sz="2550" b="1">
                <a:solidFill>
                  <a:srgbClr val="A51D29"/>
                </a:solidFill>
              </a:defRPr>
            </a:lvl2pPr>
            <a:lvl3pPr>
              <a:defRPr sz="2550" b="1">
                <a:solidFill>
                  <a:srgbClr val="A51D29"/>
                </a:solidFill>
              </a:defRPr>
            </a:lvl3pPr>
            <a:lvl4pPr>
              <a:defRPr sz="2550" b="1">
                <a:solidFill>
                  <a:srgbClr val="A51D29"/>
                </a:solidFill>
              </a:defRPr>
            </a:lvl4pPr>
            <a:lvl5pPr>
              <a:defRPr sz="2550" b="1">
                <a:solidFill>
                  <a:srgbClr val="A51D29"/>
                </a:solidFill>
              </a:defRPr>
            </a:lvl5pPr>
            <a:lvl6pPr>
              <a:defRPr sz="2550" b="1">
                <a:solidFill>
                  <a:srgbClr val="A51D29"/>
                </a:solidFill>
              </a:defRPr>
            </a:lvl6pPr>
            <a:lvl7pPr>
              <a:defRPr sz="2550" b="1">
                <a:solidFill>
                  <a:srgbClr val="A51D29"/>
                </a:solidFill>
              </a:defRPr>
            </a:lvl7pPr>
            <a:lvl8pPr>
              <a:defRPr sz="2550" b="1">
                <a:solidFill>
                  <a:srgbClr val="A51D29"/>
                </a:solidFill>
              </a:defRPr>
            </a:lvl8pPr>
            <a:lvl9pPr>
              <a:defRPr sz="2550" b="1">
                <a:solidFill>
                  <a:srgbClr val="A51D29"/>
                </a:solidFill>
              </a:defRPr>
            </a:lvl9pPr>
          </a:lstStyle>
          <a:p xmlns:a="http://schemas.openxmlformats.org/drawingml/2006/main">
            <a:pPr>
              <a:defRPr sz="2550" b="1">
                <a:solidFill>
                  <a:srgbClr val="A51D29"/>
                </a:solidFill>
              </a:defRPr>
            </a:pPr>
            <a:r>
              <a:rPr sz="2550" b="1">
                <a:solidFill>
                  <a:srgbClr val="A51D29"/>
                </a:solidFill>
              </a:rPr>
              <a:t>12 detecciones</a:t>
            </a:r>
          </a:p>
        </p:txBody>
      </p:sp>
      <p:sp>
        <p:nvSpPr>
          <p:cNvPr id="8" name="">
            <a:extLst xmlns:a="http://schemas.openxmlformats.org/drawingml/2006/main">
              <a:ext uri="{FF2B5EF4-FFF2-40B4-BE49-F238E27FC236}">
                <a16:creationId xmlns:a16="http://schemas.microsoft.com/office/drawing/2014/main" id="{D156D48B-B9D2-4416-A910-E55683A82F0A}"/>
              </a:ext>
            </a:extLst>
          </p:cNvPr>
          <p:cNvSpPr>
            <a:spLocks xmlns:a="http://schemas.openxmlformats.org/drawingml/2006/main" noGrp="1"/>
          </p:cNvSpPr>
          <p:nvPr/>
        </p:nvSpPr>
        <p:spPr>
          <a:xfrm xmlns:a="http://schemas.openxmlformats.org/drawingml/2006/main">
            <a:off x="8382000" y="2524125"/>
            <a:ext cx="3333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3263E"/>
                </a:solidFill>
              </a:defRPr>
            </a:defPPr>
            <a:lvl1pPr>
              <a:defRPr sz="1950" b="0">
                <a:solidFill>
                  <a:srgbClr val="13263E"/>
                </a:solidFill>
              </a:defRPr>
            </a:lvl1pPr>
            <a:lvl2pPr>
              <a:defRPr sz="1950" b="0">
                <a:solidFill>
                  <a:srgbClr val="13263E"/>
                </a:solidFill>
              </a:defRPr>
            </a:lvl2pPr>
            <a:lvl3pPr>
              <a:defRPr sz="1950" b="0">
                <a:solidFill>
                  <a:srgbClr val="13263E"/>
                </a:solidFill>
              </a:defRPr>
            </a:lvl3pPr>
            <a:lvl4pPr>
              <a:defRPr sz="1950" b="0">
                <a:solidFill>
                  <a:srgbClr val="13263E"/>
                </a:solidFill>
              </a:defRPr>
            </a:lvl4pPr>
            <a:lvl5pPr>
              <a:defRPr sz="1950" b="0">
                <a:solidFill>
                  <a:srgbClr val="13263E"/>
                </a:solidFill>
              </a:defRPr>
            </a:lvl5pPr>
            <a:lvl6pPr>
              <a:defRPr sz="1950" b="0">
                <a:solidFill>
                  <a:srgbClr val="13263E"/>
                </a:solidFill>
              </a:defRPr>
            </a:lvl6pPr>
            <a:lvl7pPr>
              <a:defRPr sz="1950" b="0">
                <a:solidFill>
                  <a:srgbClr val="13263E"/>
                </a:solidFill>
              </a:defRPr>
            </a:lvl7pPr>
            <a:lvl8pPr>
              <a:defRPr sz="1950" b="0">
                <a:solidFill>
                  <a:srgbClr val="13263E"/>
                </a:solidFill>
              </a:defRPr>
            </a:lvl8pPr>
            <a:lvl9pPr>
              <a:defRPr sz="1950" b="0">
                <a:solidFill>
                  <a:srgbClr val="13263E"/>
                </a:solidFill>
              </a:defRPr>
            </a:lvl9pPr>
          </a:lstStyle>
          <a:p xmlns:a="http://schemas.openxmlformats.org/drawingml/2006/main">
            <a:pPr>
              <a:defRPr sz="1950" b="0">
                <a:solidFill>
                  <a:srgbClr val="13263E"/>
                </a:solidFill>
              </a:defRPr>
            </a:pPr>
            <a:r>
              <a:rPr sz="1950" b="0">
                <a:solidFill>
                  <a:srgbClr val="13263E"/>
                </a:solidFill>
              </a:rPr>
              <a:t>URL exacta de un píxel remoto en pnreap[.]com.</a:t>
            </a:r>
          </a:p>
          <a:p xmlns:a="http://schemas.openxmlformats.org/drawingml/2006/main">
            <a:r>
              <a:t/>
            </a:r>
          </a:p>
          <a:p xmlns:a="http://schemas.openxmlformats.org/drawingml/2006/main">
            <a:pPr>
              <a:defRPr sz="1950" b="0">
                <a:solidFill>
                  <a:srgbClr val="13263E"/>
                </a:solidFill>
              </a:defRPr>
            </a:pPr>
            <a:r>
              <a:rPr sz="1950" b="0">
                <a:solidFill>
                  <a:srgbClr val="13263E"/>
                </a:solidFill>
              </a:rPr>
              <a:t>Publicidad, acortadores y distintas identidades.</a:t>
            </a:r>
          </a:p>
          <a:p xmlns:a="http://schemas.openxmlformats.org/drawingml/2006/main">
            <a:r>
              <a:t/>
            </a:r>
          </a:p>
          <a:p xmlns:a="http://schemas.openxmlformats.org/drawingml/2006/main">
            <a:pPr>
              <a:defRPr sz="1950" b="0">
                <a:solidFill>
                  <a:srgbClr val="13263E"/>
                </a:solidFill>
              </a:defRPr>
            </a:pPr>
            <a:r>
              <a:rPr sz="1950" b="0">
                <a:solidFill>
                  <a:srgbClr val="13263E"/>
                </a:solidFill>
              </a:rPr>
              <a:t>No se confirmó robo de credenciales ni infección.</a:t>
            </a:r>
          </a:p>
        </p:txBody>
      </p:sp>
      <p:sp>
        <p:nvSpPr>
          <p:cNvPr id="9" name="">
            <a:extLst xmlns:a="http://schemas.openxmlformats.org/drawingml/2006/main">
              <a:ext uri="{FF2B5EF4-FFF2-40B4-BE49-F238E27FC236}">
                <a16:creationId xmlns:a16="http://schemas.microsoft.com/office/drawing/2014/main" id="{7DEDDA54-5FD8-45DD-8AE7-FF4A4F810967}"/>
              </a:ext>
            </a:extLst>
          </p:cNvPr>
          <p:cNvSpPr>
            <a:spLocks xmlns:a="http://schemas.openxmlformats.org/drawingml/2006/main" noGrp="1"/>
          </p:cNvSpPr>
          <p:nvPr/>
        </p:nvSpPr>
        <p:spPr>
          <a:xfrm xmlns:a="http://schemas.openxmlformats.org/drawingml/2006/main">
            <a:off x="381000" y="642937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u="sng">
                <a:solidFill>
                  <a:srgbClr val="51627A"/>
                </a:solidFill>
                <a:hlinkClick xmlns:ns0="http://schemas.openxmlformats.org/officeDocument/2006/relationships" ns0:id="rIdLink3"/>
              </a:rPr>
              <a:t>VirusTotal · URL exacta corroborada el 23/10/2026. El correo no contiene adjuntos.</a:t>
            </a:r>
          </a:p>
        </p:txBody>
      </p:sp>
    </p:spTree>
    <p:extLst>
      <p:ext uri="{BB962C8B-B14F-4D97-AF65-F5344CB8AC3E}">
        <p14:creationId xmlns:p14="http://schemas.microsoft.com/office/powerpoint/2010/main" val="14239859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935DD53-3230-4197-A67C-501C289D17E8}"/>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1646420A-5353-43DF-8157-DFEA37A0C2C4}"/>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Correo R005: promoción de apuestas</a:t>
            </a:r>
          </a:p>
        </p:txBody>
      </p:sp>
      <p:sp>
        <p:nvSpPr>
          <p:cNvPr id="4" name="">
            <a:extLst xmlns:a="http://schemas.openxmlformats.org/drawingml/2006/main">
              <a:ext uri="{FF2B5EF4-FFF2-40B4-BE49-F238E27FC236}">
                <a16:creationId xmlns:a16="http://schemas.microsoft.com/office/drawing/2014/main" id="{C04C1C92-77AC-4D59-B563-9B89C4543A92}"/>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96100"/>
                </a:solidFill>
              </a:defRPr>
            </a:defPPr>
            <a:lvl1pPr>
              <a:defRPr sz="1875" b="1">
                <a:solidFill>
                  <a:srgbClr val="996100"/>
                </a:solidFill>
              </a:defRPr>
            </a:lvl1pPr>
            <a:lvl2pPr>
              <a:defRPr sz="1875" b="1">
                <a:solidFill>
                  <a:srgbClr val="996100"/>
                </a:solidFill>
              </a:defRPr>
            </a:lvl2pPr>
            <a:lvl3pPr>
              <a:defRPr sz="1875" b="1">
                <a:solidFill>
                  <a:srgbClr val="996100"/>
                </a:solidFill>
              </a:defRPr>
            </a:lvl3pPr>
            <a:lvl4pPr>
              <a:defRPr sz="1875" b="1">
                <a:solidFill>
                  <a:srgbClr val="996100"/>
                </a:solidFill>
              </a:defRPr>
            </a:lvl4pPr>
            <a:lvl5pPr>
              <a:defRPr sz="1875" b="1">
                <a:solidFill>
                  <a:srgbClr val="996100"/>
                </a:solidFill>
              </a:defRPr>
            </a:lvl5pPr>
            <a:lvl6pPr>
              <a:defRPr sz="1875" b="1">
                <a:solidFill>
                  <a:srgbClr val="996100"/>
                </a:solidFill>
              </a:defRPr>
            </a:lvl6pPr>
            <a:lvl7pPr>
              <a:defRPr sz="1875" b="1">
                <a:solidFill>
                  <a:srgbClr val="996100"/>
                </a:solidFill>
              </a:defRPr>
            </a:lvl7pPr>
            <a:lvl8pPr>
              <a:defRPr sz="1875" b="1">
                <a:solidFill>
                  <a:srgbClr val="996100"/>
                </a:solidFill>
              </a:defRPr>
            </a:lvl8pPr>
            <a:lvl9pPr>
              <a:defRPr sz="1875" b="1">
                <a:solidFill>
                  <a:srgbClr val="996100"/>
                </a:solidFill>
              </a:defRPr>
            </a:lvl9pPr>
          </a:lstStyle>
          <a:p xmlns:a="http://schemas.openxmlformats.org/drawingml/2006/main">
            <a:pPr>
              <a:defRPr sz="1875" b="1">
                <a:solidFill>
                  <a:srgbClr val="996100"/>
                </a:solidFill>
              </a:defRPr>
            </a:pPr>
            <a:r>
              <a:rPr sz="1875" b="1">
                <a:solidFill>
                  <a:srgbClr val="996100"/>
                </a:solidFill>
              </a:rPr>
              <a:t>SOSPECHOSO · confianza media</a:t>
            </a:r>
          </a:p>
        </p:txBody>
      </p:sp>
      <p:sp>
        <p:nvSpPr>
          <p:cNvPr id="5" name="">
            <a:extLst xmlns:a="http://schemas.openxmlformats.org/drawingml/2006/main">
              <a:ext uri="{FF2B5EF4-FFF2-40B4-BE49-F238E27FC236}">
                <a16:creationId xmlns:a16="http://schemas.microsoft.com/office/drawing/2014/main" id="{F53A682E-6AB8-4B6A-80E0-CA57DA056530}"/>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3 / 6</a:t>
            </a:r>
          </a:p>
        </p:txBody>
      </p:sp>
      <p:pic>
        <p:nvPicPr>
          <p:cNvPr id="6" name="">
            <a:extLst xmlns:a="http://schemas.openxmlformats.org/drawingml/2006/main">
              <a:ext uri="{FF2B5EF4-FFF2-40B4-BE49-F238E27FC236}">
                <a16:creationId xmlns:a16="http://schemas.microsoft.com/office/drawing/2014/main" id="{E5ECF6BE-3A36-4493-8DAB-DFE39337F343}"/>
              </a:ext>
            </a:extLst>
          </p:cNvPr>
          <p:cNvPicPr>
            <a:picLocks xmlns:a="http://schemas.openxmlformats.org/drawingml/2006/main" noChangeAspect="1"/>
          </p:cNvPicPr>
          <p:nvPr/>
        </p:nvPicPr>
        <p:blipFill>
          <a:blip xmlns:r="http://schemas.openxmlformats.org/officeDocument/2006/relationships" xmlns:a="http://schemas.openxmlformats.org/drawingml/2006/main" r:embed="R449eeb4dc4f443c9"/>
          <a:stretch xmlns:a="http://schemas.openxmlformats.org/drawingml/2006/main"/>
        </p:blipFill>
        <p:spPr>
          <a:xfrm xmlns:a="http://schemas.openxmlformats.org/drawingml/2006/main">
            <a:off x="381769" y="1714500"/>
            <a:ext cx="7666087" cy="43148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0404A15-E3C3-449B-89DF-5500BE60ECB9}"/>
              </a:ext>
            </a:extLst>
          </p:cNvPr>
          <p:cNvSpPr>
            <a:spLocks xmlns:a="http://schemas.openxmlformats.org/drawingml/2006/main" noGrp="1"/>
          </p:cNvSpPr>
          <p:nvPr/>
        </p:nvSpPr>
        <p:spPr>
          <a:xfrm xmlns:a="http://schemas.openxmlformats.org/drawingml/2006/main">
            <a:off x="8382000" y="188595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996100"/>
                </a:solidFill>
              </a:defRPr>
            </a:defPPr>
            <a:lvl1pPr>
              <a:defRPr sz="2325" b="1">
                <a:solidFill>
                  <a:srgbClr val="996100"/>
                </a:solidFill>
              </a:defRPr>
            </a:lvl1pPr>
            <a:lvl2pPr>
              <a:defRPr sz="2325" b="1">
                <a:solidFill>
                  <a:srgbClr val="996100"/>
                </a:solidFill>
              </a:defRPr>
            </a:lvl2pPr>
            <a:lvl3pPr>
              <a:defRPr sz="2325" b="1">
                <a:solidFill>
                  <a:srgbClr val="996100"/>
                </a:solidFill>
              </a:defRPr>
            </a:lvl3pPr>
            <a:lvl4pPr>
              <a:defRPr sz="2325" b="1">
                <a:solidFill>
                  <a:srgbClr val="996100"/>
                </a:solidFill>
              </a:defRPr>
            </a:lvl4pPr>
            <a:lvl5pPr>
              <a:defRPr sz="2325" b="1">
                <a:solidFill>
                  <a:srgbClr val="996100"/>
                </a:solidFill>
              </a:defRPr>
            </a:lvl5pPr>
            <a:lvl6pPr>
              <a:defRPr sz="2325" b="1">
                <a:solidFill>
                  <a:srgbClr val="996100"/>
                </a:solidFill>
              </a:defRPr>
            </a:lvl6pPr>
            <a:lvl7pPr>
              <a:defRPr sz="2325" b="1">
                <a:solidFill>
                  <a:srgbClr val="996100"/>
                </a:solidFill>
              </a:defRPr>
            </a:lvl7pPr>
            <a:lvl8pPr>
              <a:defRPr sz="2325" b="1">
                <a:solidFill>
                  <a:srgbClr val="996100"/>
                </a:solidFill>
              </a:defRPr>
            </a:lvl8pPr>
            <a:lvl9pPr>
              <a:defRPr sz="2325" b="1">
                <a:solidFill>
                  <a:srgbClr val="996100"/>
                </a:solidFill>
              </a:defRPr>
            </a:lvl9pPr>
          </a:lstStyle>
          <a:p xmlns:a="http://schemas.openxmlformats.org/drawingml/2006/main">
            <a:pPr>
              <a:defRPr sz="2325" b="1">
                <a:solidFill>
                  <a:srgbClr val="996100"/>
                </a:solidFill>
              </a:defRPr>
            </a:pPr>
            <a:r>
              <a:rPr sz="2325" b="1">
                <a:solidFill>
                  <a:srgbClr val="996100"/>
                </a:solidFill>
              </a:rPr>
              <a:t>7 maliciosos</a:t>
            </a:r>
          </a:p>
          <a:p xmlns:a="http://schemas.openxmlformats.org/drawingml/2006/main">
            <a:pPr>
              <a:defRPr sz="2325" b="1">
                <a:solidFill>
                  <a:srgbClr val="996100"/>
                </a:solidFill>
              </a:defRPr>
            </a:pPr>
            <a:r>
              <a:rPr sz="2325" b="1">
                <a:solidFill>
                  <a:srgbClr val="996100"/>
                </a:solidFill>
              </a:rPr>
              <a:t>2 sospechosos</a:t>
            </a:r>
          </a:p>
        </p:txBody>
      </p:sp>
      <p:sp>
        <p:nvSpPr>
          <p:cNvPr id="8" name="">
            <a:extLst xmlns:a="http://schemas.openxmlformats.org/drawingml/2006/main">
              <a:ext uri="{FF2B5EF4-FFF2-40B4-BE49-F238E27FC236}">
                <a16:creationId xmlns:a16="http://schemas.microsoft.com/office/drawing/2014/main" id="{7B911FB8-C649-4473-B2B3-39F272472DC5}"/>
              </a:ext>
            </a:extLst>
          </p:cNvPr>
          <p:cNvSpPr>
            <a:spLocks xmlns:a="http://schemas.openxmlformats.org/drawingml/2006/main" noGrp="1"/>
          </p:cNvSpPr>
          <p:nvPr/>
        </p:nvSpPr>
        <p:spPr>
          <a:xfrm xmlns:a="http://schemas.openxmlformats.org/drawingml/2006/main">
            <a:off x="8382000" y="2952750"/>
            <a:ext cx="3333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3263E"/>
                </a:solidFill>
              </a:defRPr>
            </a:defPPr>
            <a:lvl1pPr>
              <a:defRPr sz="1950" b="0">
                <a:solidFill>
                  <a:srgbClr val="13263E"/>
                </a:solidFill>
              </a:defRPr>
            </a:lvl1pPr>
            <a:lvl2pPr>
              <a:defRPr sz="1950" b="0">
                <a:solidFill>
                  <a:srgbClr val="13263E"/>
                </a:solidFill>
              </a:defRPr>
            </a:lvl2pPr>
            <a:lvl3pPr>
              <a:defRPr sz="1950" b="0">
                <a:solidFill>
                  <a:srgbClr val="13263E"/>
                </a:solidFill>
              </a:defRPr>
            </a:lvl3pPr>
            <a:lvl4pPr>
              <a:defRPr sz="1950" b="0">
                <a:solidFill>
                  <a:srgbClr val="13263E"/>
                </a:solidFill>
              </a:defRPr>
            </a:lvl4pPr>
            <a:lvl5pPr>
              <a:defRPr sz="1950" b="0">
                <a:solidFill>
                  <a:srgbClr val="13263E"/>
                </a:solidFill>
              </a:defRPr>
            </a:lvl5pPr>
            <a:lvl6pPr>
              <a:defRPr sz="1950" b="0">
                <a:solidFill>
                  <a:srgbClr val="13263E"/>
                </a:solidFill>
              </a:defRPr>
            </a:lvl6pPr>
            <a:lvl7pPr>
              <a:defRPr sz="1950" b="0">
                <a:solidFill>
                  <a:srgbClr val="13263E"/>
                </a:solidFill>
              </a:defRPr>
            </a:lvl7pPr>
            <a:lvl8pPr>
              <a:defRPr sz="1950" b="0">
                <a:solidFill>
                  <a:srgbClr val="13263E"/>
                </a:solidFill>
              </a:defRPr>
            </a:lvl8pPr>
            <a:lvl9pPr>
              <a:defRPr sz="1950" b="0">
                <a:solidFill>
                  <a:srgbClr val="13263E"/>
                </a:solidFill>
              </a:defRPr>
            </a:lvl9pPr>
          </a:lstStyle>
          <a:p xmlns:a="http://schemas.openxmlformats.org/drawingml/2006/main">
            <a:pPr>
              <a:defRPr sz="1950" b="0">
                <a:solidFill>
                  <a:srgbClr val="13263E"/>
                </a:solidFill>
              </a:defRPr>
            </a:pPr>
            <a:r>
              <a:rPr sz="1950" b="0">
                <a:solidFill>
                  <a:srgbClr val="13263E"/>
                </a:solidFill>
              </a:rPr>
              <a:t>Alertas del dominio woondsplay[.]com.</a:t>
            </a:r>
          </a:p>
          <a:p xmlns:a="http://schemas.openxmlformats.org/drawingml/2006/main">
            <a:r>
              <a:t/>
            </a:r>
          </a:p>
          <a:p xmlns:a="http://schemas.openxmlformats.org/drawingml/2006/main">
            <a:pPr>
              <a:defRPr sz="1950" b="0">
                <a:solidFill>
                  <a:srgbClr val="13263E"/>
                </a:solidFill>
              </a:defRPr>
            </a:pPr>
            <a:r>
              <a:rPr sz="1950" b="0">
                <a:solidFill>
                  <a:srgbClr val="13263E"/>
                </a:solidFill>
              </a:rPr>
              <a:t>Tres enlaces de acción y un píxel; cero adjuntos.</a:t>
            </a:r>
          </a:p>
          <a:p xmlns:a="http://schemas.openxmlformats.org/drawingml/2006/main">
            <a:r>
              <a:t/>
            </a:r>
          </a:p>
          <a:p xmlns:a="http://schemas.openxmlformats.org/drawingml/2006/main">
            <a:pPr>
              <a:defRPr sz="1950" b="0">
                <a:solidFill>
                  <a:srgbClr val="13263E"/>
                </a:solidFill>
              </a:defRPr>
            </a:pPr>
            <a:r>
              <a:rPr sz="1950" b="0">
                <a:solidFill>
                  <a:srgbClr val="13263E"/>
                </a:solidFill>
              </a:rPr>
              <a:t>Las URLs exactas no tienen reputación concluyente.</a:t>
            </a:r>
          </a:p>
        </p:txBody>
      </p:sp>
      <p:sp>
        <p:nvSpPr>
          <p:cNvPr id="9" name="">
            <a:extLst xmlns:a="http://schemas.openxmlformats.org/drawingml/2006/main">
              <a:ext uri="{FF2B5EF4-FFF2-40B4-BE49-F238E27FC236}">
                <a16:creationId xmlns:a16="http://schemas.microsoft.com/office/drawing/2014/main" id="{426E73B1-7F4A-4421-AC19-B76F58DF9C5C}"/>
              </a:ext>
            </a:extLst>
          </p:cNvPr>
          <p:cNvSpPr>
            <a:spLocks xmlns:a="http://schemas.openxmlformats.org/drawingml/2006/main" noGrp="1"/>
          </p:cNvSpPr>
          <p:nvPr/>
        </p:nvSpPr>
        <p:spPr>
          <a:xfrm xmlns:a="http://schemas.openxmlformats.org/drawingml/2006/main">
            <a:off x="381000" y="642937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u="sng">
                <a:solidFill>
                  <a:srgbClr val="51627A"/>
                </a:solidFill>
                <a:hlinkClick xmlns:ns0="http://schemas.openxmlformats.org/officeDocument/2006/relationships" ns0:id="rIdLink4"/>
              </a:rPr>
              <a:t>VirusTotal · Reputación del dominio. No equivale al veredicto de cada URL.</a:t>
            </a:r>
          </a:p>
        </p:txBody>
      </p:sp>
    </p:spTree>
    <p:extLst>
      <p:ext uri="{BB962C8B-B14F-4D97-AF65-F5344CB8AC3E}">
        <p14:creationId xmlns:p14="http://schemas.microsoft.com/office/powerpoint/2010/main" val="6923376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EDACF8E-66E8-4EE9-97BC-A1FBF0F5D642}"/>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895FD50D-D149-46AA-AB1F-D04A040841EA}"/>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U001: consulta financiera con enlace externo</a:t>
            </a:r>
          </a:p>
        </p:txBody>
      </p:sp>
      <p:sp>
        <p:nvSpPr>
          <p:cNvPr id="4" name="">
            <a:extLst xmlns:a="http://schemas.openxmlformats.org/drawingml/2006/main">
              <a:ext uri="{FF2B5EF4-FFF2-40B4-BE49-F238E27FC236}">
                <a16:creationId xmlns:a16="http://schemas.microsoft.com/office/drawing/2014/main" id="{E0D419E4-DF97-4925-833F-7DD5119F249A}"/>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96100"/>
                </a:solidFill>
              </a:defRPr>
            </a:defPPr>
            <a:lvl1pPr>
              <a:defRPr sz="1875" b="1">
                <a:solidFill>
                  <a:srgbClr val="996100"/>
                </a:solidFill>
              </a:defRPr>
            </a:lvl1pPr>
            <a:lvl2pPr>
              <a:defRPr sz="1875" b="1">
                <a:solidFill>
                  <a:srgbClr val="996100"/>
                </a:solidFill>
              </a:defRPr>
            </a:lvl2pPr>
            <a:lvl3pPr>
              <a:defRPr sz="1875" b="1">
                <a:solidFill>
                  <a:srgbClr val="996100"/>
                </a:solidFill>
              </a:defRPr>
            </a:lvl3pPr>
            <a:lvl4pPr>
              <a:defRPr sz="1875" b="1">
                <a:solidFill>
                  <a:srgbClr val="996100"/>
                </a:solidFill>
              </a:defRPr>
            </a:lvl4pPr>
            <a:lvl5pPr>
              <a:defRPr sz="1875" b="1">
                <a:solidFill>
                  <a:srgbClr val="996100"/>
                </a:solidFill>
              </a:defRPr>
            </a:lvl5pPr>
            <a:lvl6pPr>
              <a:defRPr sz="1875" b="1">
                <a:solidFill>
                  <a:srgbClr val="996100"/>
                </a:solidFill>
              </a:defRPr>
            </a:lvl6pPr>
            <a:lvl7pPr>
              <a:defRPr sz="1875" b="1">
                <a:solidFill>
                  <a:srgbClr val="996100"/>
                </a:solidFill>
              </a:defRPr>
            </a:lvl7pPr>
            <a:lvl8pPr>
              <a:defRPr sz="1875" b="1">
                <a:solidFill>
                  <a:srgbClr val="996100"/>
                </a:solidFill>
              </a:defRPr>
            </a:lvl8pPr>
            <a:lvl9pPr>
              <a:defRPr sz="1875" b="1">
                <a:solidFill>
                  <a:srgbClr val="996100"/>
                </a:solidFill>
              </a:defRPr>
            </a:lvl9pPr>
          </a:lstStyle>
          <a:p xmlns:a="http://schemas.openxmlformats.org/drawingml/2006/main">
            <a:pPr>
              <a:defRPr sz="1875" b="1">
                <a:solidFill>
                  <a:srgbClr val="996100"/>
                </a:solidFill>
              </a:defRPr>
            </a:pPr>
            <a:r>
              <a:rPr sz="1875" b="1">
                <a:solidFill>
                  <a:srgbClr val="996100"/>
                </a:solidFill>
              </a:rPr>
              <a:t>SOSPECHOSO · confianza media</a:t>
            </a:r>
          </a:p>
        </p:txBody>
      </p:sp>
      <p:sp>
        <p:nvSpPr>
          <p:cNvPr id="5" name="">
            <a:extLst xmlns:a="http://schemas.openxmlformats.org/drawingml/2006/main">
              <a:ext uri="{FF2B5EF4-FFF2-40B4-BE49-F238E27FC236}">
                <a16:creationId xmlns:a16="http://schemas.microsoft.com/office/drawing/2014/main" id="{E1A4D8A6-3AFE-4EFA-9F92-0B9C93E96284}"/>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4 / 6</a:t>
            </a:r>
          </a:p>
        </p:txBody>
      </p:sp>
      <p:pic>
        <p:nvPicPr>
          <p:cNvPr id="6" name="">
            <a:extLst xmlns:a="http://schemas.openxmlformats.org/drawingml/2006/main">
              <a:ext uri="{FF2B5EF4-FFF2-40B4-BE49-F238E27FC236}">
                <a16:creationId xmlns:a16="http://schemas.microsoft.com/office/drawing/2014/main" id="{A7987968-147A-4F32-AD86-29D6D17A788F}"/>
              </a:ext>
            </a:extLst>
          </p:cNvPr>
          <p:cNvPicPr>
            <a:picLocks xmlns:a="http://schemas.openxmlformats.org/drawingml/2006/main" noChangeAspect="1"/>
          </p:cNvPicPr>
          <p:nvPr/>
        </p:nvPicPr>
        <p:blipFill>
          <a:blip xmlns:r="http://schemas.openxmlformats.org/officeDocument/2006/relationships" xmlns:a="http://schemas.openxmlformats.org/drawingml/2006/main" r:embed="R4f64ffa7a3844b0b"/>
          <a:stretch xmlns:a="http://schemas.openxmlformats.org/drawingml/2006/main"/>
        </p:blipFill>
        <p:spPr>
          <a:xfrm xmlns:a="http://schemas.openxmlformats.org/drawingml/2006/main">
            <a:off x="381000" y="1715393"/>
            <a:ext cx="7667625" cy="431303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E2F9868-2879-452D-B88E-1F49AD390E70}"/>
              </a:ext>
            </a:extLst>
          </p:cNvPr>
          <p:cNvSpPr>
            <a:spLocks xmlns:a="http://schemas.openxmlformats.org/drawingml/2006/main" noGrp="1"/>
          </p:cNvSpPr>
          <p:nvPr/>
        </p:nvSpPr>
        <p:spPr>
          <a:xfrm xmlns:a="http://schemas.openxmlformats.org/drawingml/2006/main">
            <a:off x="8382000" y="192405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996100"/>
                </a:solidFill>
              </a:defRPr>
            </a:defPPr>
            <a:lvl1pPr>
              <a:defRPr sz="2325" b="1">
                <a:solidFill>
                  <a:srgbClr val="996100"/>
                </a:solidFill>
              </a:defRPr>
            </a:lvl1pPr>
            <a:lvl2pPr>
              <a:defRPr sz="2325" b="1">
                <a:solidFill>
                  <a:srgbClr val="996100"/>
                </a:solidFill>
              </a:defRPr>
            </a:lvl2pPr>
            <a:lvl3pPr>
              <a:defRPr sz="2325" b="1">
                <a:solidFill>
                  <a:srgbClr val="996100"/>
                </a:solidFill>
              </a:defRPr>
            </a:lvl3pPr>
            <a:lvl4pPr>
              <a:defRPr sz="2325" b="1">
                <a:solidFill>
                  <a:srgbClr val="996100"/>
                </a:solidFill>
              </a:defRPr>
            </a:lvl4pPr>
            <a:lvl5pPr>
              <a:defRPr sz="2325" b="1">
                <a:solidFill>
                  <a:srgbClr val="996100"/>
                </a:solidFill>
              </a:defRPr>
            </a:lvl5pPr>
            <a:lvl6pPr>
              <a:defRPr sz="2325" b="1">
                <a:solidFill>
                  <a:srgbClr val="996100"/>
                </a:solidFill>
              </a:defRPr>
            </a:lvl6pPr>
            <a:lvl7pPr>
              <a:defRPr sz="2325" b="1">
                <a:solidFill>
                  <a:srgbClr val="996100"/>
                </a:solidFill>
              </a:defRPr>
            </a:lvl7pPr>
            <a:lvl8pPr>
              <a:defRPr sz="2325" b="1">
                <a:solidFill>
                  <a:srgbClr val="996100"/>
                </a:solidFill>
              </a:defRPr>
            </a:lvl8pPr>
            <a:lvl9pPr>
              <a:defRPr sz="2325" b="1">
                <a:solidFill>
                  <a:srgbClr val="996100"/>
                </a:solidFill>
              </a:defRPr>
            </a:lvl9pPr>
          </a:lstStyle>
          <a:p xmlns:a="http://schemas.openxmlformats.org/drawingml/2006/main">
            <a:pPr>
              <a:defRPr sz="2325" b="1">
                <a:solidFill>
                  <a:srgbClr val="996100"/>
                </a:solidFill>
              </a:defRPr>
            </a:pPr>
            <a:r>
              <a:rPr sz="2325" b="1" u="sng">
                <a:solidFill>
                  <a:srgbClr val="996100"/>
                </a:solidFill>
                <a:hlinkClick xmlns:ns0="http://schemas.openxmlformats.org/officeDocument/2006/relationships" ns0:id="rIdLink5"/>
              </a:rPr>
              <a:t>2 alertas en la URL</a:t>
            </a:r>
          </a:p>
        </p:txBody>
      </p:sp>
      <p:sp>
        <p:nvSpPr>
          <p:cNvPr id="8" name="">
            <a:extLst xmlns:a="http://schemas.openxmlformats.org/drawingml/2006/main">
              <a:ext uri="{FF2B5EF4-FFF2-40B4-BE49-F238E27FC236}">
                <a16:creationId xmlns:a16="http://schemas.microsoft.com/office/drawing/2014/main" id="{C99398F1-2CEE-420D-863F-D8C1B6AD7F67}"/>
              </a:ext>
            </a:extLst>
          </p:cNvPr>
          <p:cNvSpPr>
            <a:spLocks xmlns:a="http://schemas.openxmlformats.org/drawingml/2006/main" noGrp="1"/>
          </p:cNvSpPr>
          <p:nvPr/>
        </p:nvSpPr>
        <p:spPr>
          <a:xfrm xmlns:a="http://schemas.openxmlformats.org/drawingml/2006/main">
            <a:off x="8382000" y="2857500"/>
            <a:ext cx="333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3263E"/>
                </a:solidFill>
              </a:defRPr>
            </a:defPPr>
            <a:lvl1pPr>
              <a:defRPr sz="1950" b="0">
                <a:solidFill>
                  <a:srgbClr val="13263E"/>
                </a:solidFill>
              </a:defRPr>
            </a:lvl1pPr>
            <a:lvl2pPr>
              <a:defRPr sz="1950" b="0">
                <a:solidFill>
                  <a:srgbClr val="13263E"/>
                </a:solidFill>
              </a:defRPr>
            </a:lvl2pPr>
            <a:lvl3pPr>
              <a:defRPr sz="1950" b="0">
                <a:solidFill>
                  <a:srgbClr val="13263E"/>
                </a:solidFill>
              </a:defRPr>
            </a:lvl3pPr>
            <a:lvl4pPr>
              <a:defRPr sz="1950" b="0">
                <a:solidFill>
                  <a:srgbClr val="13263E"/>
                </a:solidFill>
              </a:defRPr>
            </a:lvl4pPr>
            <a:lvl5pPr>
              <a:defRPr sz="1950" b="0">
                <a:solidFill>
                  <a:srgbClr val="13263E"/>
                </a:solidFill>
              </a:defRPr>
            </a:lvl5pPr>
            <a:lvl6pPr>
              <a:defRPr sz="1950" b="0">
                <a:solidFill>
                  <a:srgbClr val="13263E"/>
                </a:solidFill>
              </a:defRPr>
            </a:lvl6pPr>
            <a:lvl7pPr>
              <a:defRPr sz="1950" b="0">
                <a:solidFill>
                  <a:srgbClr val="13263E"/>
                </a:solidFill>
              </a:defRPr>
            </a:lvl7pPr>
            <a:lvl8pPr>
              <a:defRPr sz="1950" b="0">
                <a:solidFill>
                  <a:srgbClr val="13263E"/>
                </a:solidFill>
              </a:defRPr>
            </a:lvl8pPr>
            <a:lvl9pPr>
              <a:defRPr sz="1950" b="0">
                <a:solidFill>
                  <a:srgbClr val="13263E"/>
                </a:solidFill>
              </a:defRPr>
            </a:lvl9pPr>
          </a:lstStyle>
          <a:p xmlns:a="http://schemas.openxmlformats.org/drawingml/2006/main">
            <a:pPr>
              <a:defRPr sz="1950" b="0">
                <a:solidFill>
                  <a:srgbClr val="13263E"/>
                </a:solidFill>
              </a:defRPr>
            </a:pPr>
            <a:r>
              <a:rPr sz="1950" b="0">
                <a:solidFill>
                  <a:srgbClr val="13263E"/>
                </a:solidFill>
              </a:rPr>
              <a:t>Página histórica sobre CPF y orientación financiera.</a:t>
            </a:r>
          </a:p>
          <a:p xmlns:a="http://schemas.openxmlformats.org/drawingml/2006/main">
            <a:r>
              <a:t/>
            </a:r>
          </a:p>
          <a:p xmlns:a="http://schemas.openxmlformats.org/drawingml/2006/main">
            <a:pPr>
              <a:defRPr sz="1950" b="0">
                <a:solidFill>
                  <a:srgbClr val="13263E"/>
                </a:solidFill>
              </a:defRPr>
            </a:pPr>
            <a:r>
              <a:rPr sz="1950" b="0">
                <a:solidFill>
                  <a:srgbClr val="13263E"/>
                </a:solidFill>
              </a:rPr>
              <a:t>Enlace a un login externo, sin seguirlo.</a:t>
            </a:r>
          </a:p>
          <a:p xmlns:a="http://schemas.openxmlformats.org/drawingml/2006/main">
            <a:r>
              <a:t/>
            </a:r>
          </a:p>
          <a:p xmlns:a="http://schemas.openxmlformats.org/drawingml/2006/main">
            <a:pPr>
              <a:defRPr sz="1950" b="0">
                <a:solidFill>
                  <a:srgbClr val="13263E"/>
                </a:solidFill>
              </a:defRPr>
            </a:pPr>
            <a:r>
              <a:rPr sz="1950" b="0">
                <a:solidFill>
                  <a:srgbClr val="13263E"/>
                </a:solidFill>
              </a:rPr>
              <a:t>No se observó captura de credenciales.</a:t>
            </a:r>
          </a:p>
        </p:txBody>
      </p:sp>
      <p:sp>
        <p:nvSpPr>
          <p:cNvPr id="9" name="">
            <a:extLst xmlns:a="http://schemas.openxmlformats.org/drawingml/2006/main">
              <a:ext uri="{FF2B5EF4-FFF2-40B4-BE49-F238E27FC236}">
                <a16:creationId xmlns:a16="http://schemas.microsoft.com/office/drawing/2014/main" id="{71AC1F46-186C-41E5-9CA7-8CC32637D18D}"/>
              </a:ext>
            </a:extLst>
          </p:cNvPr>
          <p:cNvSpPr>
            <a:spLocks xmlns:a="http://schemas.openxmlformats.org/drawingml/2006/main" noGrp="1"/>
          </p:cNvSpPr>
          <p:nvPr/>
        </p:nvSpPr>
        <p:spPr>
          <a:xfrm xmlns:a="http://schemas.openxmlformats.org/drawingml/2006/main">
            <a:off x="381000" y="642937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u="sng">
                <a:solidFill>
                  <a:srgbClr val="51627A"/>
                </a:solidFill>
                <a:hlinkClick xmlns:ns1="http://schemas.openxmlformats.org/officeDocument/2006/relationships" ns1:id="rIdLink6"/>
              </a:rPr>
              <a:t>urlscan · Captura histórica del 16/10/2026. Dominio: g-comeceseuatendimenton[.]shop</a:t>
            </a:r>
          </a:p>
        </p:txBody>
      </p:sp>
    </p:spTree>
    <p:extLst>
      <p:ext uri="{BB962C8B-B14F-4D97-AF65-F5344CB8AC3E}">
        <p14:creationId xmlns:p14="http://schemas.microsoft.com/office/powerpoint/2010/main" val="4295556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64D6885-DEA5-4415-A72C-108E658F832E}"/>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83050DF6-664B-4D01-B9F5-F79F8F591EE8}"/>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U002: descarga ELF para MIPS</a:t>
            </a:r>
          </a:p>
        </p:txBody>
      </p:sp>
      <p:sp>
        <p:nvSpPr>
          <p:cNvPr id="4" name="">
            <a:extLst xmlns:a="http://schemas.openxmlformats.org/drawingml/2006/main">
              <a:ext uri="{FF2B5EF4-FFF2-40B4-BE49-F238E27FC236}">
                <a16:creationId xmlns:a16="http://schemas.microsoft.com/office/drawing/2014/main" id="{7E8AD0DE-3E6A-457E-B938-9BCB7C0B4130}"/>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51D29"/>
                </a:solidFill>
              </a:defRPr>
            </a:defPPr>
            <a:lvl1pPr>
              <a:defRPr sz="1875" b="1">
                <a:solidFill>
                  <a:srgbClr val="A51D29"/>
                </a:solidFill>
              </a:defRPr>
            </a:lvl1pPr>
            <a:lvl2pPr>
              <a:defRPr sz="1875" b="1">
                <a:solidFill>
                  <a:srgbClr val="A51D29"/>
                </a:solidFill>
              </a:defRPr>
            </a:lvl2pPr>
            <a:lvl3pPr>
              <a:defRPr sz="1875" b="1">
                <a:solidFill>
                  <a:srgbClr val="A51D29"/>
                </a:solidFill>
              </a:defRPr>
            </a:lvl3pPr>
            <a:lvl4pPr>
              <a:defRPr sz="1875" b="1">
                <a:solidFill>
                  <a:srgbClr val="A51D29"/>
                </a:solidFill>
              </a:defRPr>
            </a:lvl4pPr>
            <a:lvl5pPr>
              <a:defRPr sz="1875" b="1">
                <a:solidFill>
                  <a:srgbClr val="A51D29"/>
                </a:solidFill>
              </a:defRPr>
            </a:lvl5pPr>
            <a:lvl6pPr>
              <a:defRPr sz="1875" b="1">
                <a:solidFill>
                  <a:srgbClr val="A51D29"/>
                </a:solidFill>
              </a:defRPr>
            </a:lvl6pPr>
            <a:lvl7pPr>
              <a:defRPr sz="1875" b="1">
                <a:solidFill>
                  <a:srgbClr val="A51D29"/>
                </a:solidFill>
              </a:defRPr>
            </a:lvl7pPr>
            <a:lvl8pPr>
              <a:defRPr sz="1875" b="1">
                <a:solidFill>
                  <a:srgbClr val="A51D29"/>
                </a:solidFill>
              </a:defRPr>
            </a:lvl8pPr>
            <a:lvl9pPr>
              <a:defRPr sz="1875" b="1">
                <a:solidFill>
                  <a:srgbClr val="A51D29"/>
                </a:solidFill>
              </a:defRPr>
            </a:lvl9pPr>
          </a:lstStyle>
          <a:p xmlns:a="http://schemas.openxmlformats.org/drawingml/2006/main">
            <a:pPr>
              <a:defRPr sz="1875" b="1">
                <a:solidFill>
                  <a:srgbClr val="A51D29"/>
                </a:solidFill>
              </a:defRPr>
            </a:pPr>
            <a:r>
              <a:rPr sz="1875" b="1">
                <a:solidFill>
                  <a:srgbClr val="A51D29"/>
                </a:solidFill>
              </a:rPr>
              <a:t>MALICIOSO · confianza alta en asociación y reputación</a:t>
            </a:r>
          </a:p>
        </p:txBody>
      </p:sp>
      <p:sp>
        <p:nvSpPr>
          <p:cNvPr id="5" name="">
            <a:extLst xmlns:a="http://schemas.openxmlformats.org/drawingml/2006/main">
              <a:ext uri="{FF2B5EF4-FFF2-40B4-BE49-F238E27FC236}">
                <a16:creationId xmlns:a16="http://schemas.microsoft.com/office/drawing/2014/main" id="{D8E61DD4-013E-4292-B0CF-5FA69307B20B}"/>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5 / 6</a:t>
            </a:r>
          </a:p>
        </p:txBody>
      </p:sp>
      <p:pic>
        <p:nvPicPr>
          <p:cNvPr id="6" name="">
            <a:extLst xmlns:a="http://schemas.openxmlformats.org/drawingml/2006/main">
              <a:ext uri="{FF2B5EF4-FFF2-40B4-BE49-F238E27FC236}">
                <a16:creationId xmlns:a16="http://schemas.microsoft.com/office/drawing/2014/main" id="{1A12035C-9B9E-43FE-90C3-BB2D1E794DDE}"/>
              </a:ext>
            </a:extLst>
          </p:cNvPr>
          <p:cNvPicPr>
            <a:picLocks xmlns:a="http://schemas.openxmlformats.org/drawingml/2006/main" noChangeAspect="1"/>
          </p:cNvPicPr>
          <p:nvPr/>
        </p:nvPicPr>
        <p:blipFill>
          <a:blip xmlns:r="http://schemas.openxmlformats.org/officeDocument/2006/relationships" xmlns:a="http://schemas.openxmlformats.org/drawingml/2006/main" r:embed="Rc407ae9630524861"/>
          <a:stretch xmlns:a="http://schemas.openxmlformats.org/drawingml/2006/main"/>
        </p:blipFill>
        <p:spPr>
          <a:xfrm xmlns:a="http://schemas.openxmlformats.org/drawingml/2006/main">
            <a:off x="381000" y="1769157"/>
            <a:ext cx="5476875" cy="3081562"/>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8FA1F140-D591-446A-813E-266E28E39FBB}"/>
              </a:ext>
            </a:extLst>
          </p:cNvPr>
          <p:cNvPicPr>
            <a:picLocks xmlns:a="http://schemas.openxmlformats.org/drawingml/2006/main" noChangeAspect="1"/>
          </p:cNvPicPr>
          <p:nvPr/>
        </p:nvPicPr>
        <p:blipFill>
          <a:blip xmlns:r="http://schemas.openxmlformats.org/officeDocument/2006/relationships" xmlns:a="http://schemas.openxmlformats.org/drawingml/2006/main" r:embed="R53da5734fdc64230"/>
          <a:stretch xmlns:a="http://schemas.openxmlformats.org/drawingml/2006/main"/>
        </p:blipFill>
        <p:spPr>
          <a:xfrm xmlns:a="http://schemas.openxmlformats.org/drawingml/2006/main">
            <a:off x="6191250" y="1728411"/>
            <a:ext cx="5619750" cy="316305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A6D72F7-4DBC-45B7-88CD-83D188DF21F9}"/>
              </a:ext>
            </a:extLst>
          </p:cNvPr>
          <p:cNvSpPr>
            <a:spLocks xmlns:a="http://schemas.openxmlformats.org/drawingml/2006/main" noGrp="1"/>
          </p:cNvSpPr>
          <p:nvPr/>
        </p:nvSpPr>
        <p:spPr>
          <a:xfrm xmlns:a="http://schemas.openxmlformats.org/drawingml/2006/main">
            <a:off x="381000" y="5048250"/>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3263E"/>
                </a:solidFill>
              </a:defRPr>
            </a:defPPr>
            <a:lvl1pPr>
              <a:defRPr sz="1950" b="1">
                <a:solidFill>
                  <a:srgbClr val="13263E"/>
                </a:solidFill>
              </a:defRPr>
            </a:lvl1pPr>
            <a:lvl2pPr>
              <a:defRPr sz="1950" b="1">
                <a:solidFill>
                  <a:srgbClr val="13263E"/>
                </a:solidFill>
              </a:defRPr>
            </a:lvl2pPr>
            <a:lvl3pPr>
              <a:defRPr sz="1950" b="1">
                <a:solidFill>
                  <a:srgbClr val="13263E"/>
                </a:solidFill>
              </a:defRPr>
            </a:lvl3pPr>
            <a:lvl4pPr>
              <a:defRPr sz="1950" b="1">
                <a:solidFill>
                  <a:srgbClr val="13263E"/>
                </a:solidFill>
              </a:defRPr>
            </a:lvl4pPr>
            <a:lvl5pPr>
              <a:defRPr sz="1950" b="1">
                <a:solidFill>
                  <a:srgbClr val="13263E"/>
                </a:solidFill>
              </a:defRPr>
            </a:lvl5pPr>
            <a:lvl6pPr>
              <a:defRPr sz="1950" b="1">
                <a:solidFill>
                  <a:srgbClr val="13263E"/>
                </a:solidFill>
              </a:defRPr>
            </a:lvl6pPr>
            <a:lvl7pPr>
              <a:defRPr sz="1950" b="1">
                <a:solidFill>
                  <a:srgbClr val="13263E"/>
                </a:solidFill>
              </a:defRPr>
            </a:lvl7pPr>
            <a:lvl8pPr>
              <a:defRPr sz="1950" b="1">
                <a:solidFill>
                  <a:srgbClr val="13263E"/>
                </a:solidFill>
              </a:defRPr>
            </a:lvl8pPr>
            <a:lvl9pPr>
              <a:defRPr sz="1950" b="1">
                <a:solidFill>
                  <a:srgbClr val="13263E"/>
                </a:solidFill>
              </a:defRPr>
            </a:lvl9pPr>
          </a:lstStyle>
          <a:p xmlns:a="http://schemas.openxmlformats.org/drawingml/2006/main">
            <a:pPr>
              <a:defRPr sz="1950" b="1">
                <a:solidFill>
                  <a:srgbClr val="13263E"/>
                </a:solidFill>
              </a:defRPr>
            </a:pPr>
            <a:r>
              <a:rPr sz="1950" b="1" u="sng">
                <a:solidFill>
                  <a:srgbClr val="13263E"/>
                </a:solidFill>
                <a:hlinkClick xmlns:ns0="http://schemas.openxmlformats.org/officeDocument/2006/relationships" ns0:id="rIdLink7"/>
              </a:rPr>
              <a:t>urlscan · ELF de 137.480 bytes</a:t>
            </a:r>
          </a:p>
        </p:txBody>
      </p:sp>
      <p:sp>
        <p:nvSpPr>
          <p:cNvPr id="9" name="">
            <a:extLst xmlns:a="http://schemas.openxmlformats.org/drawingml/2006/main">
              <a:ext uri="{FF2B5EF4-FFF2-40B4-BE49-F238E27FC236}">
                <a16:creationId xmlns:a16="http://schemas.microsoft.com/office/drawing/2014/main" id="{723A95DF-5975-44B4-9F8B-9100CAF9E8A8}"/>
              </a:ext>
            </a:extLst>
          </p:cNvPr>
          <p:cNvSpPr>
            <a:spLocks xmlns:a="http://schemas.openxmlformats.org/drawingml/2006/main" noGrp="1"/>
          </p:cNvSpPr>
          <p:nvPr/>
        </p:nvSpPr>
        <p:spPr>
          <a:xfrm xmlns:a="http://schemas.openxmlformats.org/drawingml/2006/main">
            <a:off x="6191250" y="5048250"/>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3263E"/>
                </a:solidFill>
              </a:defRPr>
            </a:defPPr>
            <a:lvl1pPr>
              <a:defRPr sz="1950" b="1">
                <a:solidFill>
                  <a:srgbClr val="13263E"/>
                </a:solidFill>
              </a:defRPr>
            </a:lvl1pPr>
            <a:lvl2pPr>
              <a:defRPr sz="1950" b="1">
                <a:solidFill>
                  <a:srgbClr val="13263E"/>
                </a:solidFill>
              </a:defRPr>
            </a:lvl2pPr>
            <a:lvl3pPr>
              <a:defRPr sz="1950" b="1">
                <a:solidFill>
                  <a:srgbClr val="13263E"/>
                </a:solidFill>
              </a:defRPr>
            </a:lvl3pPr>
            <a:lvl4pPr>
              <a:defRPr sz="1950" b="1">
                <a:solidFill>
                  <a:srgbClr val="13263E"/>
                </a:solidFill>
              </a:defRPr>
            </a:lvl4pPr>
            <a:lvl5pPr>
              <a:defRPr sz="1950" b="1">
                <a:solidFill>
                  <a:srgbClr val="13263E"/>
                </a:solidFill>
              </a:defRPr>
            </a:lvl5pPr>
            <a:lvl6pPr>
              <a:defRPr sz="1950" b="1">
                <a:solidFill>
                  <a:srgbClr val="13263E"/>
                </a:solidFill>
              </a:defRPr>
            </a:lvl6pPr>
            <a:lvl7pPr>
              <a:defRPr sz="1950" b="1">
                <a:solidFill>
                  <a:srgbClr val="13263E"/>
                </a:solidFill>
              </a:defRPr>
            </a:lvl7pPr>
            <a:lvl8pPr>
              <a:defRPr sz="1950" b="1">
                <a:solidFill>
                  <a:srgbClr val="13263E"/>
                </a:solidFill>
              </a:defRPr>
            </a:lvl8pPr>
            <a:lvl9pPr>
              <a:defRPr sz="1950" b="1">
                <a:solidFill>
                  <a:srgbClr val="13263E"/>
                </a:solidFill>
              </a:defRPr>
            </a:lvl9pPr>
          </a:lstStyle>
          <a:p xmlns:a="http://schemas.openxmlformats.org/drawingml/2006/main">
            <a:pPr>
              <a:defRPr sz="1950" b="1">
                <a:solidFill>
                  <a:srgbClr val="13263E"/>
                </a:solidFill>
              </a:defRPr>
            </a:pPr>
            <a:r>
              <a:rPr sz="1950" b="1" u="sng">
                <a:solidFill>
                  <a:srgbClr val="13263E"/>
                </a:solidFill>
                <a:hlinkClick xmlns:ns1="http://schemas.openxmlformats.org/officeDocument/2006/relationships" ns1:id="rIdLink8"/>
              </a:rPr>
              <a:t>VirusTotal · 50 detecciones</a:t>
            </a:r>
          </a:p>
        </p:txBody>
      </p:sp>
      <p:sp>
        <p:nvSpPr>
          <p:cNvPr id="10" name="">
            <a:extLst xmlns:a="http://schemas.openxmlformats.org/drawingml/2006/main">
              <a:ext uri="{FF2B5EF4-FFF2-40B4-BE49-F238E27FC236}">
                <a16:creationId xmlns:a16="http://schemas.microsoft.com/office/drawing/2014/main" id="{6FDC5A31-8378-4213-B208-56D37AD52B79}"/>
              </a:ext>
            </a:extLst>
          </p:cNvPr>
          <p:cNvSpPr>
            <a:spLocks xmlns:a="http://schemas.openxmlformats.org/drawingml/2006/main" noGrp="1"/>
          </p:cNvSpPr>
          <p:nvPr/>
        </p:nvSpPr>
        <p:spPr>
          <a:xfrm xmlns:a="http://schemas.openxmlformats.org/drawingml/2006/main">
            <a:off x="381000" y="5572125"/>
            <a:ext cx="1143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3263E"/>
                </a:solidFill>
              </a:defRPr>
            </a:defPPr>
            <a:lvl1pPr>
              <a:defRPr sz="1950" b="0">
                <a:solidFill>
                  <a:srgbClr val="13263E"/>
                </a:solidFill>
              </a:defRPr>
            </a:lvl1pPr>
            <a:lvl2pPr>
              <a:defRPr sz="1950" b="0">
                <a:solidFill>
                  <a:srgbClr val="13263E"/>
                </a:solidFill>
              </a:defRPr>
            </a:lvl2pPr>
            <a:lvl3pPr>
              <a:defRPr sz="1950" b="0">
                <a:solidFill>
                  <a:srgbClr val="13263E"/>
                </a:solidFill>
              </a:defRPr>
            </a:lvl3pPr>
            <a:lvl4pPr>
              <a:defRPr sz="1950" b="0">
                <a:solidFill>
                  <a:srgbClr val="13263E"/>
                </a:solidFill>
              </a:defRPr>
            </a:lvl4pPr>
            <a:lvl5pPr>
              <a:defRPr sz="1950" b="0">
                <a:solidFill>
                  <a:srgbClr val="13263E"/>
                </a:solidFill>
              </a:defRPr>
            </a:lvl5pPr>
            <a:lvl6pPr>
              <a:defRPr sz="1950" b="0">
                <a:solidFill>
                  <a:srgbClr val="13263E"/>
                </a:solidFill>
              </a:defRPr>
            </a:lvl6pPr>
            <a:lvl7pPr>
              <a:defRPr sz="1950" b="0">
                <a:solidFill>
                  <a:srgbClr val="13263E"/>
                </a:solidFill>
              </a:defRPr>
            </a:lvl7pPr>
            <a:lvl8pPr>
              <a:defRPr sz="1950" b="0">
                <a:solidFill>
                  <a:srgbClr val="13263E"/>
                </a:solidFill>
              </a:defRPr>
            </a:lvl8pPr>
            <a:lvl9pPr>
              <a:defRPr sz="1950" b="0">
                <a:solidFill>
                  <a:srgbClr val="13263E"/>
                </a:solidFill>
              </a:defRPr>
            </a:lvl9pPr>
          </a:lstStyle>
          <a:p xmlns:a="http://schemas.openxmlformats.org/drawingml/2006/main">
            <a:pPr>
              <a:defRPr sz="1950" b="0">
                <a:solidFill>
                  <a:srgbClr val="13263E"/>
                </a:solidFill>
              </a:defRPr>
            </a:pPr>
            <a:r>
              <a:rPr sz="1950" b="0">
                <a:solidFill>
                  <a:srgbClr val="13263E"/>
                </a:solidFill>
              </a:rPr>
              <a:t>Mismo SHA-256 en ambos servicios. Etiquetas Mirai / Mozi.</a:t>
            </a:r>
          </a:p>
          <a:p xmlns:a="http://schemas.openxmlformats.org/drawingml/2006/main">
            <a:pPr>
              <a:defRPr sz="1950" b="0">
                <a:solidFill>
                  <a:srgbClr val="13263E"/>
                </a:solidFill>
              </a:defRPr>
            </a:pPr>
            <a:r>
              <a:rPr sz="1950" b="0">
                <a:solidFill>
                  <a:srgbClr val="13263E"/>
                </a:solidFill>
              </a:rPr>
              <a:t>Riesgo potencial: botnet y DDoS. La extensión .sh no define el formato.</a:t>
            </a:r>
          </a:p>
        </p:txBody>
      </p:sp>
      <p:sp>
        <p:nvSpPr>
          <p:cNvPr id="11" name="">
            <a:extLst xmlns:a="http://schemas.openxmlformats.org/drawingml/2006/main">
              <a:ext uri="{FF2B5EF4-FFF2-40B4-BE49-F238E27FC236}">
                <a16:creationId xmlns:a16="http://schemas.microsoft.com/office/drawing/2014/main" id="{71CE371C-EDAB-4620-8493-2841599299D1}"/>
              </a:ext>
            </a:extLst>
          </p:cNvPr>
          <p:cNvSpPr>
            <a:spLocks xmlns:a="http://schemas.openxmlformats.org/drawingml/2006/main" noGrp="1"/>
          </p:cNvSpPr>
          <p:nvPr/>
        </p:nvSpPr>
        <p:spPr>
          <a:xfrm xmlns:a="http://schemas.openxmlformats.org/drawingml/2006/main">
            <a:off x="381000" y="642937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221[.]15[.]173[.]51:41661/bin[.]sh · Descarga histórica de terceros; no descargamos la carga.</a:t>
            </a:r>
          </a:p>
        </p:txBody>
      </p:sp>
    </p:spTree>
    <p:extLst>
      <p:ext uri="{BB962C8B-B14F-4D97-AF65-F5344CB8AC3E}">
        <p14:creationId xmlns:p14="http://schemas.microsoft.com/office/powerpoint/2010/main" val="2557520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B79E707-AB68-4921-BB33-4E2BE60816E7}"/>
              </a:ext>
            </a:extLst>
          </p:cNvPr>
          <p:cNvSpPr>
            <a:spLocks xmlns:a="http://schemas.openxmlformats.org/drawingml/2006/main" noGrp="1"/>
          </p:cNvSpPr>
          <p:nvPr/>
        </p:nvSpPr>
        <p:spPr>
          <a:xfrm xmlns:a="http://schemas.openxmlformats.org/drawingml/2006/main">
            <a:off x="381000" y="17145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GRUPO 05  /  ANÁLISIS Y TRIAGE</a:t>
            </a:r>
          </a:p>
        </p:txBody>
      </p:sp>
      <p:sp>
        <p:nvSpPr>
          <p:cNvPr id="3" name="">
            <a:extLst xmlns:a="http://schemas.openxmlformats.org/drawingml/2006/main">
              <a:ext uri="{FF2B5EF4-FFF2-40B4-BE49-F238E27FC236}">
                <a16:creationId xmlns:a16="http://schemas.microsoft.com/office/drawing/2014/main" id="{282B7067-03C8-4B2C-BC47-8A1E6CD8D451}"/>
              </a:ext>
            </a:extLst>
          </p:cNvPr>
          <p:cNvSpPr>
            <a:spLocks xmlns:a="http://schemas.openxmlformats.org/drawingml/2006/main" noGrp="1"/>
          </p:cNvSpPr>
          <p:nvPr/>
        </p:nvSpPr>
        <p:spPr>
          <a:xfrm xmlns:a="http://schemas.openxmlformats.org/drawingml/2006/main">
            <a:off x="381000" y="52387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3263E"/>
                </a:solidFill>
              </a:defRPr>
            </a:defPPr>
            <a:lvl1pPr>
              <a:defRPr sz="3225" b="1">
                <a:solidFill>
                  <a:srgbClr val="13263E"/>
                </a:solidFill>
              </a:defRPr>
            </a:lvl1pPr>
            <a:lvl2pPr>
              <a:defRPr sz="3225" b="1">
                <a:solidFill>
                  <a:srgbClr val="13263E"/>
                </a:solidFill>
              </a:defRPr>
            </a:lvl2pPr>
            <a:lvl3pPr>
              <a:defRPr sz="3225" b="1">
                <a:solidFill>
                  <a:srgbClr val="13263E"/>
                </a:solidFill>
              </a:defRPr>
            </a:lvl3pPr>
            <a:lvl4pPr>
              <a:defRPr sz="3225" b="1">
                <a:solidFill>
                  <a:srgbClr val="13263E"/>
                </a:solidFill>
              </a:defRPr>
            </a:lvl4pPr>
            <a:lvl5pPr>
              <a:defRPr sz="3225" b="1">
                <a:solidFill>
                  <a:srgbClr val="13263E"/>
                </a:solidFill>
              </a:defRPr>
            </a:lvl5pPr>
            <a:lvl6pPr>
              <a:defRPr sz="3225" b="1">
                <a:solidFill>
                  <a:srgbClr val="13263E"/>
                </a:solidFill>
              </a:defRPr>
            </a:lvl6pPr>
            <a:lvl7pPr>
              <a:defRPr sz="3225" b="1">
                <a:solidFill>
                  <a:srgbClr val="13263E"/>
                </a:solidFill>
              </a:defRPr>
            </a:lvl7pPr>
            <a:lvl8pPr>
              <a:defRPr sz="3225" b="1">
                <a:solidFill>
                  <a:srgbClr val="13263E"/>
                </a:solidFill>
              </a:defRPr>
            </a:lvl8pPr>
            <a:lvl9pPr>
              <a:defRPr sz="3225" b="1">
                <a:solidFill>
                  <a:srgbClr val="13263E"/>
                </a:solidFill>
              </a:defRPr>
            </a:lvl9pPr>
          </a:lstStyle>
          <a:p xmlns:a="http://schemas.openxmlformats.org/drawingml/2006/main">
            <a:pPr>
              <a:defRPr sz="3225" b="1">
                <a:solidFill>
                  <a:srgbClr val="13263E"/>
                </a:solidFill>
              </a:defRPr>
            </a:pPr>
            <a:r>
              <a:rPr sz="3225" b="1">
                <a:solidFill>
                  <a:srgbClr val="13263E"/>
                </a:solidFill>
              </a:rPr>
              <a:t>U003: alertas y dominio aparcado</a:t>
            </a:r>
          </a:p>
        </p:txBody>
      </p:sp>
      <p:sp>
        <p:nvSpPr>
          <p:cNvPr id="4" name="">
            <a:extLst xmlns:a="http://schemas.openxmlformats.org/drawingml/2006/main">
              <a:ext uri="{FF2B5EF4-FFF2-40B4-BE49-F238E27FC236}">
                <a16:creationId xmlns:a16="http://schemas.microsoft.com/office/drawing/2014/main" id="{66EFACEE-A1C8-44B8-A1DA-77224C93F769}"/>
              </a:ext>
            </a:extLst>
          </p:cNvPr>
          <p:cNvSpPr>
            <a:spLocks xmlns:a="http://schemas.openxmlformats.org/drawingml/2006/main" noGrp="1"/>
          </p:cNvSpPr>
          <p:nvPr/>
        </p:nvSpPr>
        <p:spPr>
          <a:xfrm xmlns:a="http://schemas.openxmlformats.org/drawingml/2006/main">
            <a:off x="381000" y="1162050"/>
            <a:ext cx="1143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96100"/>
                </a:solidFill>
              </a:defRPr>
            </a:defPPr>
            <a:lvl1pPr>
              <a:defRPr sz="1875" b="1">
                <a:solidFill>
                  <a:srgbClr val="996100"/>
                </a:solidFill>
              </a:defRPr>
            </a:lvl1pPr>
            <a:lvl2pPr>
              <a:defRPr sz="1875" b="1">
                <a:solidFill>
                  <a:srgbClr val="996100"/>
                </a:solidFill>
              </a:defRPr>
            </a:lvl2pPr>
            <a:lvl3pPr>
              <a:defRPr sz="1875" b="1">
                <a:solidFill>
                  <a:srgbClr val="996100"/>
                </a:solidFill>
              </a:defRPr>
            </a:lvl3pPr>
            <a:lvl4pPr>
              <a:defRPr sz="1875" b="1">
                <a:solidFill>
                  <a:srgbClr val="996100"/>
                </a:solidFill>
              </a:defRPr>
            </a:lvl4pPr>
            <a:lvl5pPr>
              <a:defRPr sz="1875" b="1">
                <a:solidFill>
                  <a:srgbClr val="996100"/>
                </a:solidFill>
              </a:defRPr>
            </a:lvl5pPr>
            <a:lvl6pPr>
              <a:defRPr sz="1875" b="1">
                <a:solidFill>
                  <a:srgbClr val="996100"/>
                </a:solidFill>
              </a:defRPr>
            </a:lvl6pPr>
            <a:lvl7pPr>
              <a:defRPr sz="1875" b="1">
                <a:solidFill>
                  <a:srgbClr val="996100"/>
                </a:solidFill>
              </a:defRPr>
            </a:lvl7pPr>
            <a:lvl8pPr>
              <a:defRPr sz="1875" b="1">
                <a:solidFill>
                  <a:srgbClr val="996100"/>
                </a:solidFill>
              </a:defRPr>
            </a:lvl8pPr>
            <a:lvl9pPr>
              <a:defRPr sz="1875" b="1">
                <a:solidFill>
                  <a:srgbClr val="996100"/>
                </a:solidFill>
              </a:defRPr>
            </a:lvl9pPr>
          </a:lstStyle>
          <a:p xmlns:a="http://schemas.openxmlformats.org/drawingml/2006/main">
            <a:pPr>
              <a:defRPr sz="1875" b="1">
                <a:solidFill>
                  <a:srgbClr val="996100"/>
                </a:solidFill>
              </a:defRPr>
            </a:pPr>
            <a:r>
              <a:rPr sz="1875" b="1">
                <a:solidFill>
                  <a:srgbClr val="996100"/>
                </a:solidFill>
              </a:rPr>
              <a:t>SOSPECHOSO · confianza media</a:t>
            </a:r>
          </a:p>
        </p:txBody>
      </p:sp>
      <p:sp>
        <p:nvSpPr>
          <p:cNvPr id="5" name="">
            <a:extLst xmlns:a="http://schemas.openxmlformats.org/drawingml/2006/main">
              <a:ext uri="{FF2B5EF4-FFF2-40B4-BE49-F238E27FC236}">
                <a16:creationId xmlns:a16="http://schemas.microsoft.com/office/drawing/2014/main" id="{62B9765C-9168-4DF8-88F2-082FEF6E6C69}"/>
              </a:ext>
            </a:extLst>
          </p:cNvPr>
          <p:cNvSpPr>
            <a:spLocks xmlns:a="http://schemas.openxmlformats.org/drawingml/2006/main" noGrp="1"/>
          </p:cNvSpPr>
          <p:nvPr/>
        </p:nvSpPr>
        <p:spPr>
          <a:xfrm xmlns:a="http://schemas.openxmlformats.org/drawingml/2006/main">
            <a:off x="11220450" y="6419850"/>
            <a:ext cx="64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a:solidFill>
                  <a:srgbClr val="51627A"/>
                </a:solidFill>
              </a:rPr>
              <a:t>6 / 6</a:t>
            </a:r>
          </a:p>
        </p:txBody>
      </p:sp>
      <p:pic>
        <p:nvPicPr>
          <p:cNvPr id="6" name="">
            <a:extLst xmlns:a="http://schemas.openxmlformats.org/drawingml/2006/main">
              <a:ext uri="{FF2B5EF4-FFF2-40B4-BE49-F238E27FC236}">
                <a16:creationId xmlns:a16="http://schemas.microsoft.com/office/drawing/2014/main" id="{19671646-B007-4196-A6F1-BDF39DCDFBF9}"/>
              </a:ext>
            </a:extLst>
          </p:cNvPr>
          <p:cNvPicPr>
            <a:picLocks xmlns:a="http://schemas.openxmlformats.org/drawingml/2006/main" noChangeAspect="1"/>
          </p:cNvPicPr>
          <p:nvPr/>
        </p:nvPicPr>
        <p:blipFill>
          <a:blip xmlns:r="http://schemas.openxmlformats.org/officeDocument/2006/relationships" xmlns:a="http://schemas.openxmlformats.org/drawingml/2006/main" r:embed="Rb952315e47ff49a0"/>
          <a:stretch xmlns:a="http://schemas.openxmlformats.org/drawingml/2006/main"/>
        </p:blipFill>
        <p:spPr>
          <a:xfrm xmlns:a="http://schemas.openxmlformats.org/drawingml/2006/main">
            <a:off x="658813" y="1714500"/>
            <a:ext cx="7112000" cy="4000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86F0297-312C-41A1-BE8B-255177EBA61D}"/>
              </a:ext>
            </a:extLst>
          </p:cNvPr>
          <p:cNvSpPr>
            <a:spLocks xmlns:a="http://schemas.openxmlformats.org/drawingml/2006/main" noGrp="1"/>
          </p:cNvSpPr>
          <p:nvPr/>
        </p:nvSpPr>
        <p:spPr>
          <a:xfrm xmlns:a="http://schemas.openxmlformats.org/drawingml/2006/main">
            <a:off x="8382000" y="1857375"/>
            <a:ext cx="333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996100"/>
                </a:solidFill>
              </a:defRPr>
            </a:defPPr>
            <a:lvl1pPr>
              <a:defRPr sz="2100" b="1">
                <a:solidFill>
                  <a:srgbClr val="996100"/>
                </a:solidFill>
              </a:defRPr>
            </a:lvl1pPr>
            <a:lvl2pPr>
              <a:defRPr sz="2100" b="1">
                <a:solidFill>
                  <a:srgbClr val="996100"/>
                </a:solidFill>
              </a:defRPr>
            </a:lvl2pPr>
            <a:lvl3pPr>
              <a:defRPr sz="2100" b="1">
                <a:solidFill>
                  <a:srgbClr val="996100"/>
                </a:solidFill>
              </a:defRPr>
            </a:lvl3pPr>
            <a:lvl4pPr>
              <a:defRPr sz="2100" b="1">
                <a:solidFill>
                  <a:srgbClr val="996100"/>
                </a:solidFill>
              </a:defRPr>
            </a:lvl4pPr>
            <a:lvl5pPr>
              <a:defRPr sz="2100" b="1">
                <a:solidFill>
                  <a:srgbClr val="996100"/>
                </a:solidFill>
              </a:defRPr>
            </a:lvl5pPr>
            <a:lvl6pPr>
              <a:defRPr sz="2100" b="1">
                <a:solidFill>
                  <a:srgbClr val="996100"/>
                </a:solidFill>
              </a:defRPr>
            </a:lvl6pPr>
            <a:lvl7pPr>
              <a:defRPr sz="2100" b="1">
                <a:solidFill>
                  <a:srgbClr val="996100"/>
                </a:solidFill>
              </a:defRPr>
            </a:lvl7pPr>
            <a:lvl8pPr>
              <a:defRPr sz="2100" b="1">
                <a:solidFill>
                  <a:srgbClr val="996100"/>
                </a:solidFill>
              </a:defRPr>
            </a:lvl8pPr>
            <a:lvl9pPr>
              <a:defRPr sz="2100" b="1">
                <a:solidFill>
                  <a:srgbClr val="996100"/>
                </a:solidFill>
              </a:defRPr>
            </a:lvl9pPr>
          </a:lstStyle>
          <a:p xmlns:a="http://schemas.openxmlformats.org/drawingml/2006/main">
            <a:pPr>
              <a:defRPr sz="2100" b="1">
                <a:solidFill>
                  <a:srgbClr val="996100"/>
                </a:solidFill>
              </a:defRPr>
            </a:pPr>
            <a:r>
              <a:rPr sz="2100" b="1" u="sng">
                <a:solidFill>
                  <a:srgbClr val="996100"/>
                </a:solidFill>
                <a:hlinkClick xmlns:ns0="http://schemas.openxmlformats.org/officeDocument/2006/relationships" ns0:id="rIdLink9"/>
              </a:rPr>
              <a:t>URL: 1 detección</a:t>
            </a:r>
          </a:p>
          <a:p xmlns:a="http://schemas.openxmlformats.org/drawingml/2006/main">
            <a:pPr>
              <a:defRPr sz="2100" b="1">
                <a:solidFill>
                  <a:srgbClr val="996100"/>
                </a:solidFill>
              </a:defRPr>
            </a:pPr>
            <a:r>
              <a:rPr sz="2100" b="1" u="sng">
                <a:solidFill>
                  <a:srgbClr val="996100"/>
                </a:solidFill>
                <a:hlinkClick xmlns:ns1="http://schemas.openxmlformats.org/officeDocument/2006/relationships" ns1:id="rIdLink10"/>
              </a:rPr>
              <a:t>Dominio: 6 maliciosos</a:t>
            </a:r>
          </a:p>
          <a:p xmlns:a="http://schemas.openxmlformats.org/drawingml/2006/main">
            <a:pPr>
              <a:defRPr sz="2100" b="1">
                <a:solidFill>
                  <a:srgbClr val="996100"/>
                </a:solidFill>
              </a:defRPr>
            </a:pPr>
            <a:r>
              <a:rPr sz="2100" b="1" u="sng">
                <a:solidFill>
                  <a:srgbClr val="996100"/>
                </a:solidFill>
                <a:hlinkClick xmlns:ns2="http://schemas.openxmlformats.org/officeDocument/2006/relationships" ns2:id="rIdLink11"/>
              </a:rPr>
              <a:t>+ 2 sospechosos</a:t>
            </a:r>
          </a:p>
        </p:txBody>
      </p:sp>
      <p:sp>
        <p:nvSpPr>
          <p:cNvPr id="8" name="">
            <a:extLst xmlns:a="http://schemas.openxmlformats.org/drawingml/2006/main">
              <a:ext uri="{FF2B5EF4-FFF2-40B4-BE49-F238E27FC236}">
                <a16:creationId xmlns:a16="http://schemas.microsoft.com/office/drawing/2014/main" id="{0FC578C4-0564-4C31-B949-61FB6EA67C8A}"/>
              </a:ext>
            </a:extLst>
          </p:cNvPr>
          <p:cNvSpPr>
            <a:spLocks xmlns:a="http://schemas.openxmlformats.org/drawingml/2006/main" noGrp="1"/>
          </p:cNvSpPr>
          <p:nvPr/>
        </p:nvSpPr>
        <p:spPr>
          <a:xfrm xmlns:a="http://schemas.openxmlformats.org/drawingml/2006/main">
            <a:off x="8382000" y="3143250"/>
            <a:ext cx="333375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3263E"/>
                </a:solidFill>
              </a:defRPr>
            </a:defPPr>
            <a:lvl1pPr>
              <a:defRPr sz="1875" b="0">
                <a:solidFill>
                  <a:srgbClr val="13263E"/>
                </a:solidFill>
              </a:defRPr>
            </a:lvl1pPr>
            <a:lvl2pPr>
              <a:defRPr sz="1875" b="0">
                <a:solidFill>
                  <a:srgbClr val="13263E"/>
                </a:solidFill>
              </a:defRPr>
            </a:lvl2pPr>
            <a:lvl3pPr>
              <a:defRPr sz="1875" b="0">
                <a:solidFill>
                  <a:srgbClr val="13263E"/>
                </a:solidFill>
              </a:defRPr>
            </a:lvl3pPr>
            <a:lvl4pPr>
              <a:defRPr sz="1875" b="0">
                <a:solidFill>
                  <a:srgbClr val="13263E"/>
                </a:solidFill>
              </a:defRPr>
            </a:lvl4pPr>
            <a:lvl5pPr>
              <a:defRPr sz="1875" b="0">
                <a:solidFill>
                  <a:srgbClr val="13263E"/>
                </a:solidFill>
              </a:defRPr>
            </a:lvl5pPr>
            <a:lvl6pPr>
              <a:defRPr sz="1875" b="0">
                <a:solidFill>
                  <a:srgbClr val="13263E"/>
                </a:solidFill>
              </a:defRPr>
            </a:lvl6pPr>
            <a:lvl7pPr>
              <a:defRPr sz="1875" b="0">
                <a:solidFill>
                  <a:srgbClr val="13263E"/>
                </a:solidFill>
              </a:defRPr>
            </a:lvl7pPr>
            <a:lvl8pPr>
              <a:defRPr sz="1875" b="0">
                <a:solidFill>
                  <a:srgbClr val="13263E"/>
                </a:solidFill>
              </a:defRPr>
            </a:lvl8pPr>
            <a:lvl9pPr>
              <a:defRPr sz="1875" b="0">
                <a:solidFill>
                  <a:srgbClr val="13263E"/>
                </a:solidFill>
              </a:defRPr>
            </a:lvl9pPr>
          </a:lstStyle>
          <a:p xmlns:a="http://schemas.openxmlformats.org/drawingml/2006/main">
            <a:pPr>
              <a:defRPr sz="1875" b="0">
                <a:solidFill>
                  <a:srgbClr val="13263E"/>
                </a:solidFill>
              </a:defRPr>
            </a:pPr>
            <a:r>
              <a:rPr sz="1875" b="0">
                <a:solidFill>
                  <a:srgbClr val="13263E"/>
                </a:solidFill>
              </a:rPr>
              <a:t>Página aparcada con HTTP 404 en el histórico.</a:t>
            </a:r>
          </a:p>
          <a:p xmlns:a="http://schemas.openxmlformats.org/drawingml/2006/main">
            <a:pPr>
              <a:defRPr sz="1950" b="0">
                <a:solidFill>
                  <a:srgbClr val="13263E"/>
                </a:solidFill>
              </a:defRPr>
            </a:pPr>
            <a:r>
              <a:t/>
            </a:r>
          </a:p>
          <a:p xmlns:a="http://schemas.openxmlformats.org/drawingml/2006/main">
            <a:pPr>
              <a:defRPr sz="1875" b="0">
                <a:solidFill>
                  <a:srgbClr val="13263E"/>
                </a:solidFill>
              </a:defRPr>
            </a:pPr>
            <a:r>
              <a:rPr sz="1875" b="0">
                <a:solidFill>
                  <a:srgbClr val="13263E"/>
                </a:solidFill>
              </a:rPr>
              <a:t>Sin tienda ni formulario de credenciales observados.</a:t>
            </a:r>
          </a:p>
          <a:p xmlns:a="http://schemas.openxmlformats.org/drawingml/2006/main">
            <a:pPr>
              <a:defRPr sz="1950" b="0">
                <a:solidFill>
                  <a:srgbClr val="13263E"/>
                </a:solidFill>
              </a:defRPr>
            </a:pPr>
            <a:r>
              <a:t/>
            </a:r>
          </a:p>
          <a:p xmlns:a="http://schemas.openxmlformats.org/drawingml/2006/main">
            <a:pPr>
              <a:defRPr sz="1875" b="0">
                <a:solidFill>
                  <a:srgbClr val="13263E"/>
                </a:solidFill>
              </a:defRPr>
            </a:pPr>
            <a:r>
              <a:rPr sz="1875" b="0">
                <a:solidFill>
                  <a:srgbClr val="13263E"/>
                </a:solidFill>
              </a:rPr>
              <a:t>Riesgo posible de engaño; fraude sin confirmar.</a:t>
            </a:r>
          </a:p>
        </p:txBody>
      </p:sp>
      <p:sp>
        <p:nvSpPr>
          <p:cNvPr id="9" name="">
            <a:extLst xmlns:a="http://schemas.openxmlformats.org/drawingml/2006/main">
              <a:ext uri="{FF2B5EF4-FFF2-40B4-BE49-F238E27FC236}">
                <a16:creationId xmlns:a16="http://schemas.microsoft.com/office/drawing/2014/main" id="{3CDA3246-B985-4711-AB9B-B9275AEEA286}"/>
              </a:ext>
            </a:extLst>
          </p:cNvPr>
          <p:cNvSpPr>
            <a:spLocks xmlns:a="http://schemas.openxmlformats.org/drawingml/2006/main" noGrp="1"/>
          </p:cNvSpPr>
          <p:nvPr/>
        </p:nvSpPr>
        <p:spPr>
          <a:xfrm xmlns:a="http://schemas.openxmlformats.org/drawingml/2006/main">
            <a:off x="381000" y="5905500"/>
            <a:ext cx="1143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3263E"/>
                </a:solidFill>
              </a:defRPr>
            </a:defPPr>
            <a:lvl1pPr>
              <a:defRPr sz="2100" b="1">
                <a:solidFill>
                  <a:srgbClr val="13263E"/>
                </a:solidFill>
              </a:defRPr>
            </a:lvl1pPr>
            <a:lvl2pPr>
              <a:defRPr sz="2100" b="1">
                <a:solidFill>
                  <a:srgbClr val="13263E"/>
                </a:solidFill>
              </a:defRPr>
            </a:lvl2pPr>
            <a:lvl3pPr>
              <a:defRPr sz="2100" b="1">
                <a:solidFill>
                  <a:srgbClr val="13263E"/>
                </a:solidFill>
              </a:defRPr>
            </a:lvl3pPr>
            <a:lvl4pPr>
              <a:defRPr sz="2100" b="1">
                <a:solidFill>
                  <a:srgbClr val="13263E"/>
                </a:solidFill>
              </a:defRPr>
            </a:lvl4pPr>
            <a:lvl5pPr>
              <a:defRPr sz="2100" b="1">
                <a:solidFill>
                  <a:srgbClr val="13263E"/>
                </a:solidFill>
              </a:defRPr>
            </a:lvl5pPr>
            <a:lvl6pPr>
              <a:defRPr sz="2100" b="1">
                <a:solidFill>
                  <a:srgbClr val="13263E"/>
                </a:solidFill>
              </a:defRPr>
            </a:lvl6pPr>
            <a:lvl7pPr>
              <a:defRPr sz="2100" b="1">
                <a:solidFill>
                  <a:srgbClr val="13263E"/>
                </a:solidFill>
              </a:defRPr>
            </a:lvl7pPr>
            <a:lvl8pPr>
              <a:defRPr sz="2100" b="1">
                <a:solidFill>
                  <a:srgbClr val="13263E"/>
                </a:solidFill>
              </a:defRPr>
            </a:lvl8pPr>
            <a:lvl9pPr>
              <a:defRPr sz="2100" b="1">
                <a:solidFill>
                  <a:srgbClr val="13263E"/>
                </a:solidFill>
              </a:defRPr>
            </a:lvl9pPr>
          </a:lstStyle>
          <a:p xmlns:a="http://schemas.openxmlformats.org/drawingml/2006/main">
            <a:pPr>
              <a:defRPr sz="2100" b="1">
                <a:solidFill>
                  <a:srgbClr val="13263E"/>
                </a:solidFill>
              </a:defRPr>
            </a:pPr>
            <a:r>
              <a:rPr sz="2100" b="1">
                <a:solidFill>
                  <a:srgbClr val="13263E"/>
                </a:solidFill>
              </a:rPr>
              <a:t>Resultado del set: 4 maliciosos · 3 sospechosos · ninguna muestra ejecutada</a:t>
            </a:r>
          </a:p>
        </p:txBody>
      </p:sp>
      <p:sp>
        <p:nvSpPr>
          <p:cNvPr id="10" name="">
            <a:extLst xmlns:a="http://schemas.openxmlformats.org/drawingml/2006/main">
              <a:ext uri="{FF2B5EF4-FFF2-40B4-BE49-F238E27FC236}">
                <a16:creationId xmlns:a16="http://schemas.microsoft.com/office/drawing/2014/main" id="{F8A83699-D35E-438F-9D87-F540AC4F6724}"/>
              </a:ext>
            </a:extLst>
          </p:cNvPr>
          <p:cNvSpPr>
            <a:spLocks xmlns:a="http://schemas.openxmlformats.org/drawingml/2006/main" noGrp="1"/>
          </p:cNvSpPr>
          <p:nvPr/>
        </p:nvSpPr>
        <p:spPr>
          <a:xfrm xmlns:a="http://schemas.openxmlformats.org/drawingml/2006/main">
            <a:off x="381000" y="642937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1627A"/>
                </a:solidFill>
              </a:defRPr>
            </a:defPPr>
            <a:lvl1pPr>
              <a:defRPr sz="1200" b="0">
                <a:solidFill>
                  <a:srgbClr val="51627A"/>
                </a:solidFill>
              </a:defRPr>
            </a:lvl1pPr>
            <a:lvl2pPr>
              <a:defRPr sz="1200" b="0">
                <a:solidFill>
                  <a:srgbClr val="51627A"/>
                </a:solidFill>
              </a:defRPr>
            </a:lvl2pPr>
            <a:lvl3pPr>
              <a:defRPr sz="1200" b="0">
                <a:solidFill>
                  <a:srgbClr val="51627A"/>
                </a:solidFill>
              </a:defRPr>
            </a:lvl3pPr>
            <a:lvl4pPr>
              <a:defRPr sz="1200" b="0">
                <a:solidFill>
                  <a:srgbClr val="51627A"/>
                </a:solidFill>
              </a:defRPr>
            </a:lvl4pPr>
            <a:lvl5pPr>
              <a:defRPr sz="1200" b="0">
                <a:solidFill>
                  <a:srgbClr val="51627A"/>
                </a:solidFill>
              </a:defRPr>
            </a:lvl5pPr>
            <a:lvl6pPr>
              <a:defRPr sz="1200" b="0">
                <a:solidFill>
                  <a:srgbClr val="51627A"/>
                </a:solidFill>
              </a:defRPr>
            </a:lvl6pPr>
            <a:lvl7pPr>
              <a:defRPr sz="1200" b="0">
                <a:solidFill>
                  <a:srgbClr val="51627A"/>
                </a:solidFill>
              </a:defRPr>
            </a:lvl7pPr>
            <a:lvl8pPr>
              <a:defRPr sz="1200" b="0">
                <a:solidFill>
                  <a:srgbClr val="51627A"/>
                </a:solidFill>
              </a:defRPr>
            </a:lvl8pPr>
            <a:lvl9pPr>
              <a:defRPr sz="1200" b="0">
                <a:solidFill>
                  <a:srgbClr val="51627A"/>
                </a:solidFill>
              </a:defRPr>
            </a:lvl9pPr>
          </a:lstStyle>
          <a:p xmlns:a="http://schemas.openxmlformats.org/drawingml/2006/main">
            <a:pPr>
              <a:defRPr sz="1200" b="0">
                <a:solidFill>
                  <a:srgbClr val="51627A"/>
                </a:solidFill>
              </a:defRPr>
            </a:pPr>
            <a:r>
              <a:rPr sz="1200" b="0" u="sng">
                <a:solidFill>
                  <a:srgbClr val="51627A"/>
                </a:solidFill>
                <a:hlinkClick xmlns:ns3="http://schemas.openxmlformats.org/officeDocument/2006/relationships" ns3:id="rIdLink12"/>
              </a:rPr>
              <a:t>urlscan · Histórico del 16/10/2026. www[.]pneustorebr[.]cfd · “Sin detección” no significa limpio.</a:t>
            </a:r>
          </a:p>
        </p:txBody>
      </p:sp>
    </p:spTree>
    <p:extLst>
      <p:ext uri="{BB962C8B-B14F-4D97-AF65-F5344CB8AC3E}">
        <p14:creationId xmlns:p14="http://schemas.microsoft.com/office/powerpoint/2010/main" val="10763657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ato"/>
        <a:ea typeface=""/>
        <a:cs typeface=""/>
      </a:majorFont>
      <a:minorFont>
        <a:latin typeface="Lat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2026-10-23T19:41:06.5230000Z</dcterms:created>
  <dcterms:modified xsi:type="dcterms:W3CDTF">2026-10-23T19:41:06.5230000Z</dcterms:modified>
</coreProperties>
</file>